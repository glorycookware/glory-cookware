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1" r:id="rId6"/>
    <p:sldId id="260"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8D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226" y="-2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731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jpe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jpe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jpeg"/><Relationship Id="rId7"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3.jpe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jpe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3.jpe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6916936" y="285750"/>
            <a:ext cx="1798439" cy="208955"/>
          </a:xfrm>
          <a:prstGeom prst="rect">
            <a:avLst/>
          </a:prstGeom>
          <a:noFill/>
          <a:ln/>
        </p:spPr>
        <p:txBody>
          <a:bodyPr wrap="square" lIns="0" tIns="0" rIns="0" bIns="0" rtlCol="0" anchor="t">
            <a:spAutoFit/>
          </a:bodyPr>
          <a:lstStyle/>
          <a:p>
            <a:pPr marL="0" indent="0" algn="l">
              <a:buNone/>
            </a:pPr>
            <a:r>
              <a:rPr lang="en-US" sz="1200" b="1" dirty="0">
                <a:solidFill>
                  <a:srgbClr val="001B3A"/>
                </a:solidFill>
                <a:latin typeface="Montserrat Black" pitchFamily="34" charset="0"/>
                <a:ea typeface="Montserrat Black" pitchFamily="34" charset="-122"/>
                <a:cs typeface="Montserrat Black" pitchFamily="34" charset="-120"/>
              </a:rPr>
              <a:t>GLORY COOKWARE</a:t>
            </a:r>
            <a:endParaRPr lang="en-US" sz="1200" dirty="0"/>
          </a:p>
        </p:txBody>
      </p:sp>
      <p:pic>
        <p:nvPicPr>
          <p:cNvPr id="4" name="Image 1" descr="preencoded.png"/>
          <p:cNvPicPr>
            <a:picLocks noChangeAspect="1"/>
          </p:cNvPicPr>
          <p:nvPr/>
        </p:nvPicPr>
        <p:blipFill>
          <a:blip r:embed="rId4"/>
          <a:stretch>
            <a:fillRect/>
          </a:stretch>
        </p:blipFill>
        <p:spPr>
          <a:xfrm>
            <a:off x="285750" y="428625"/>
            <a:ext cx="5486400" cy="4572000"/>
          </a:xfrm>
          <a:prstGeom prst="rect">
            <a:avLst/>
          </a:prstGeom>
        </p:spPr>
      </p:pic>
      <p:sp>
        <p:nvSpPr>
          <p:cNvPr id="5" name="Text 1"/>
          <p:cNvSpPr/>
          <p:nvPr/>
        </p:nvSpPr>
        <p:spPr>
          <a:xfrm>
            <a:off x="5943600" y="1658801"/>
            <a:ext cx="2771775" cy="1774075"/>
          </a:xfrm>
          <a:prstGeom prst="rect">
            <a:avLst/>
          </a:prstGeom>
          <a:noFill/>
          <a:ln/>
        </p:spPr>
        <p:txBody>
          <a:bodyPr wrap="square" lIns="0" tIns="0" rIns="0" bIns="0" rtlCol="0" anchor="t">
            <a:spAutoFit/>
          </a:bodyPr>
          <a:lstStyle/>
          <a:p>
            <a:pPr marL="0" indent="0" algn="l">
              <a:lnSpc>
                <a:spcPct val="88000"/>
              </a:lnSpc>
              <a:buNone/>
            </a:pPr>
            <a:r>
              <a:rPr lang="en-US" sz="3200" b="1" dirty="0">
                <a:solidFill>
                  <a:srgbClr val="001B3A"/>
                </a:solidFill>
                <a:latin typeface="Montserrat Black" pitchFamily="34" charset="0"/>
                <a:ea typeface="Montserrat Black" pitchFamily="34" charset="-122"/>
                <a:cs typeface="Montserrat Black" pitchFamily="34" charset="-120"/>
              </a:rPr>
              <a:t>GLORY COOKWARE</a:t>
            </a:r>
            <a:r>
              <a:rPr lang="en-US" sz="3300" b="1" dirty="0">
                <a:solidFill>
                  <a:srgbClr val="001B3A"/>
                </a:solidFill>
                <a:latin typeface="Montserrat Black" pitchFamily="34" charset="0"/>
                <a:ea typeface="Montserrat Black" pitchFamily="34" charset="-122"/>
                <a:cs typeface="Montserrat Black" pitchFamily="34" charset="-120"/>
              </a:rPr>
              <a:t>
MARKETING
STRATEGY</a:t>
            </a:r>
            <a:endParaRPr lang="en-US" sz="3300" dirty="0"/>
          </a:p>
        </p:txBody>
      </p:sp>
      <p:sp>
        <p:nvSpPr>
          <p:cNvPr id="6" name="Text 2"/>
          <p:cNvSpPr/>
          <p:nvPr/>
        </p:nvSpPr>
        <p:spPr>
          <a:xfrm>
            <a:off x="5943600" y="3841886"/>
            <a:ext cx="2771775" cy="557213"/>
          </a:xfrm>
          <a:prstGeom prst="rect">
            <a:avLst/>
          </a:prstGeom>
          <a:noFill/>
          <a:ln/>
        </p:spPr>
        <p:txBody>
          <a:bodyPr wrap="square" lIns="0" tIns="0" rIns="0" bIns="0" rtlCol="0" anchor="t">
            <a:spAutoFit/>
          </a:bodyPr>
          <a:lstStyle/>
          <a:p>
            <a:pPr marL="0" indent="0" algn="l">
              <a:buNone/>
            </a:pPr>
            <a:r>
              <a:rPr lang="en-US" sz="1700" kern="0" spc="2" dirty="0">
                <a:solidFill>
                  <a:srgbClr val="0F766E"/>
                </a:solidFill>
                <a:latin typeface="Montserrat Medium" pitchFamily="34" charset="0"/>
                <a:ea typeface="Montserrat Medium" pitchFamily="34" charset="-122"/>
                <a:cs typeface="Montserrat Medium" pitchFamily="34" charset="-120"/>
              </a:rPr>
              <a:t>Digital Marketing Strategy</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428625"/>
            <a:ext cx="4286250" cy="4714875"/>
          </a:xfrm>
          <a:prstGeom prst="rect">
            <a:avLst/>
          </a:prstGeom>
          <a:solidFill>
            <a:srgbClr val="FFFFFF"/>
          </a:solidFill>
          <a:ln/>
        </p:spPr>
        <p:txBody>
          <a:bodyPr/>
          <a:lstStyle/>
          <a:p>
            <a:endParaRPr lang="en-US" dirty="0"/>
          </a:p>
        </p:txBody>
      </p:sp>
      <p:sp>
        <p:nvSpPr>
          <p:cNvPr id="4" name="Shape 1"/>
          <p:cNvSpPr/>
          <p:nvPr/>
        </p:nvSpPr>
        <p:spPr>
          <a:xfrm>
            <a:off x="714375" y="714375"/>
            <a:ext cx="428625" cy="428625"/>
          </a:xfrm>
          <a:prstGeom prst="ellipse">
            <a:avLst/>
          </a:prstGeom>
          <a:solidFill>
            <a:srgbClr val="0F766E">
              <a:alpha val="15000"/>
            </a:srgbClr>
          </a:solidFill>
          <a:ln/>
        </p:spPr>
      </p:sp>
      <p:pic>
        <p:nvPicPr>
          <p:cNvPr id="5" name="Image 1" descr="preencoded.png"/>
          <p:cNvPicPr>
            <a:picLocks noChangeAspect="1"/>
          </p:cNvPicPr>
          <p:nvPr/>
        </p:nvPicPr>
        <p:blipFill>
          <a:blip r:embed="rId4"/>
          <a:stretch>
            <a:fillRect/>
          </a:stretch>
        </p:blipFill>
        <p:spPr>
          <a:xfrm>
            <a:off x="864394" y="842963"/>
            <a:ext cx="128588" cy="171450"/>
          </a:xfrm>
          <a:prstGeom prst="rect">
            <a:avLst/>
          </a:prstGeom>
        </p:spPr>
      </p:pic>
      <p:sp>
        <p:nvSpPr>
          <p:cNvPr id="6" name="Text 2"/>
          <p:cNvSpPr/>
          <p:nvPr/>
        </p:nvSpPr>
        <p:spPr>
          <a:xfrm>
            <a:off x="714375" y="1285875"/>
            <a:ext cx="3714750" cy="278606"/>
          </a:xfrm>
          <a:prstGeom prst="rect">
            <a:avLst/>
          </a:prstGeom>
          <a:noFill/>
          <a:ln/>
        </p:spPr>
        <p:txBody>
          <a:bodyPr wrap="square" lIns="0" tIns="0" rIns="0" bIns="0" rtlCol="0" anchor="t">
            <a:spAutoFit/>
          </a:bodyPr>
          <a:lstStyle/>
          <a:p>
            <a:pPr marL="0" indent="0" algn="l">
              <a:buNone/>
            </a:pPr>
            <a:r>
              <a:rPr lang="en-US" sz="1600" b="1" dirty="0">
                <a:solidFill>
                  <a:srgbClr val="001B3A"/>
                </a:solidFill>
                <a:latin typeface="Montserrat Black" pitchFamily="34" charset="0"/>
                <a:ea typeface="Montserrat Black" pitchFamily="34" charset="-122"/>
                <a:cs typeface="Montserrat Black" pitchFamily="34" charset="-120"/>
              </a:rPr>
              <a:t>INTRODUCTION</a:t>
            </a:r>
            <a:endParaRPr lang="en-US" sz="1600" dirty="0"/>
          </a:p>
        </p:txBody>
      </p:sp>
      <p:sp>
        <p:nvSpPr>
          <p:cNvPr id="7" name="Text 3"/>
          <p:cNvSpPr/>
          <p:nvPr/>
        </p:nvSpPr>
        <p:spPr>
          <a:xfrm>
            <a:off x="714375" y="1778794"/>
            <a:ext cx="3714750" cy="731453"/>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001B3A"/>
                </a:solidFill>
                <a:latin typeface="Montserrat Medium" pitchFamily="34" charset="0"/>
                <a:ea typeface="Montserrat Medium" pitchFamily="34" charset="-122"/>
                <a:cs typeface="Montserrat Medium" pitchFamily="34" charset="-120"/>
              </a:rPr>
              <a:t>Glory Cookware, established in 2019, specializes in premium granite cookware designed for durability and health. We provide practical, durable, and high-quality products to meet everyday cooking needs.</a:t>
            </a:r>
            <a:endParaRPr lang="en-US" sz="850" dirty="0"/>
          </a:p>
        </p:txBody>
      </p:sp>
      <p:sp>
        <p:nvSpPr>
          <p:cNvPr id="8" name="Text 4"/>
          <p:cNvSpPr/>
          <p:nvPr/>
        </p:nvSpPr>
        <p:spPr>
          <a:xfrm>
            <a:off x="714375" y="2788853"/>
            <a:ext cx="1785938" cy="121444"/>
          </a:xfrm>
          <a:prstGeom prst="rect">
            <a:avLst/>
          </a:prstGeom>
          <a:noFill/>
          <a:ln/>
        </p:spPr>
        <p:txBody>
          <a:bodyPr wrap="squar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PRODUCT RANGE</a:t>
            </a:r>
            <a:endParaRPr lang="en-US" sz="700" dirty="0"/>
          </a:p>
        </p:txBody>
      </p:sp>
      <p:sp>
        <p:nvSpPr>
          <p:cNvPr id="9" name="Text 5"/>
          <p:cNvSpPr/>
          <p:nvPr/>
        </p:nvSpPr>
        <p:spPr>
          <a:xfrm>
            <a:off x="714375" y="2967447"/>
            <a:ext cx="1785938" cy="280002"/>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001B3A"/>
                </a:solidFill>
                <a:latin typeface="Montserrat Medium" pitchFamily="34" charset="0"/>
                <a:ea typeface="Montserrat Medium" pitchFamily="34" charset="-122"/>
                <a:cs typeface="Montserrat Medium" pitchFamily="34" charset="-120"/>
              </a:rPr>
              <a:t>High-quality pots, frying pans, grills, and essential kitchen tools.</a:t>
            </a:r>
            <a:endParaRPr lang="en-US" sz="750" dirty="0"/>
          </a:p>
        </p:txBody>
      </p:sp>
      <p:sp>
        <p:nvSpPr>
          <p:cNvPr id="10" name="Text 6"/>
          <p:cNvSpPr/>
          <p:nvPr/>
        </p:nvSpPr>
        <p:spPr>
          <a:xfrm>
            <a:off x="2643188" y="2788853"/>
            <a:ext cx="1785938" cy="121444"/>
          </a:xfrm>
          <a:prstGeom prst="rect">
            <a:avLst/>
          </a:prstGeom>
          <a:noFill/>
          <a:ln/>
        </p:spPr>
        <p:txBody>
          <a:bodyPr wrap="squar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CORE VALUE</a:t>
            </a:r>
            <a:endParaRPr lang="en-US" sz="700" dirty="0"/>
          </a:p>
        </p:txBody>
      </p:sp>
      <p:sp>
        <p:nvSpPr>
          <p:cNvPr id="11" name="Text 7"/>
          <p:cNvSpPr/>
          <p:nvPr/>
        </p:nvSpPr>
        <p:spPr>
          <a:xfrm>
            <a:off x="2643188" y="2967447"/>
            <a:ext cx="1785938" cy="420002"/>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001B3A"/>
                </a:solidFill>
                <a:latin typeface="Montserrat Medium" pitchFamily="34" charset="0"/>
                <a:ea typeface="Montserrat Medium" pitchFamily="34" charset="-122"/>
                <a:cs typeface="Montserrat Medium" pitchFamily="34" charset="-120"/>
              </a:rPr>
              <a:t>Practical, long-lasting, and high-performance products for daily cooking.</a:t>
            </a:r>
            <a:endParaRPr lang="en-US" sz="750" dirty="0"/>
          </a:p>
        </p:txBody>
      </p:sp>
      <p:sp>
        <p:nvSpPr>
          <p:cNvPr id="12" name="Text 8"/>
          <p:cNvSpPr/>
          <p:nvPr/>
        </p:nvSpPr>
        <p:spPr>
          <a:xfrm>
            <a:off x="714375" y="3637480"/>
            <a:ext cx="1785938" cy="121444"/>
          </a:xfrm>
          <a:prstGeom prst="rect">
            <a:avLst/>
          </a:prstGeom>
          <a:noFill/>
          <a:ln/>
        </p:spPr>
        <p:txBody>
          <a:bodyPr wrap="squar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ESTABLISHED</a:t>
            </a:r>
            <a:endParaRPr lang="en-US" sz="700" dirty="0"/>
          </a:p>
        </p:txBody>
      </p:sp>
      <p:sp>
        <p:nvSpPr>
          <p:cNvPr id="13" name="Text 9"/>
          <p:cNvSpPr/>
          <p:nvPr/>
        </p:nvSpPr>
        <p:spPr>
          <a:xfrm>
            <a:off x="714375" y="3816074"/>
            <a:ext cx="1785938" cy="280002"/>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001B3A"/>
                </a:solidFill>
                <a:latin typeface="Montserrat Medium" pitchFamily="34" charset="0"/>
                <a:ea typeface="Montserrat Medium" pitchFamily="34" charset="-122"/>
                <a:cs typeface="Montserrat Medium" pitchFamily="34" charset="-120"/>
              </a:rPr>
              <a:t>Founded in 2019 to bridge the gap between luxury and utility.</a:t>
            </a:r>
            <a:endParaRPr lang="en-US" sz="750" dirty="0"/>
          </a:p>
        </p:txBody>
      </p:sp>
      <p:sp>
        <p:nvSpPr>
          <p:cNvPr id="14" name="Text 10"/>
          <p:cNvSpPr/>
          <p:nvPr/>
        </p:nvSpPr>
        <p:spPr>
          <a:xfrm>
            <a:off x="2643188" y="3637480"/>
            <a:ext cx="1785938" cy="121444"/>
          </a:xfrm>
          <a:prstGeom prst="rect">
            <a:avLst/>
          </a:prstGeom>
          <a:noFill/>
          <a:ln/>
        </p:spPr>
        <p:txBody>
          <a:bodyPr wrap="squar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MARKET FOCUS</a:t>
            </a:r>
            <a:endParaRPr lang="en-US" sz="700" dirty="0"/>
          </a:p>
        </p:txBody>
      </p:sp>
      <p:sp>
        <p:nvSpPr>
          <p:cNvPr id="15" name="Text 11"/>
          <p:cNvSpPr/>
          <p:nvPr/>
        </p:nvSpPr>
        <p:spPr>
          <a:xfrm>
            <a:off x="2643188" y="3816074"/>
            <a:ext cx="1785938" cy="280002"/>
          </a:xfrm>
          <a:prstGeom prst="rect">
            <a:avLst/>
          </a:prstGeom>
          <a:noFill/>
          <a:ln/>
        </p:spPr>
        <p:txBody>
          <a:bodyPr wrap="square" lIns="0" tIns="0" rIns="0" bIns="0" rtlCol="0" anchor="t">
            <a:spAutoFit/>
          </a:bodyPr>
          <a:lstStyle/>
          <a:p>
            <a:pPr marL="0" indent="0" algn="l">
              <a:lnSpc>
                <a:spcPct val="112000"/>
              </a:lnSpc>
              <a:buNone/>
            </a:pPr>
            <a:r>
              <a:rPr lang="en-US" sz="750" dirty="0">
                <a:solidFill>
                  <a:srgbClr val="001B3A"/>
                </a:solidFill>
                <a:latin typeface="Montserrat Medium" pitchFamily="34" charset="0"/>
                <a:ea typeface="Montserrat Medium" pitchFamily="34" charset="-122"/>
                <a:cs typeface="Montserrat Medium" pitchFamily="34" charset="-120"/>
              </a:rPr>
              <a:t>Catering to modern households seeking healthier alternatives.</a:t>
            </a:r>
            <a:endParaRPr lang="en-US" sz="750" dirty="0"/>
          </a:p>
        </p:txBody>
      </p:sp>
      <p:pic>
        <p:nvPicPr>
          <p:cNvPr id="16" name="Image 2" descr="preencoded.png"/>
          <p:cNvPicPr>
            <a:picLocks noChangeAspect="1"/>
          </p:cNvPicPr>
          <p:nvPr/>
        </p:nvPicPr>
        <p:blipFill>
          <a:blip r:embed="rId5"/>
          <a:stretch>
            <a:fillRect/>
          </a:stretch>
        </p:blipFill>
        <p:spPr>
          <a:xfrm>
            <a:off x="5000625" y="428625"/>
            <a:ext cx="3857625" cy="42862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428625"/>
            <a:ext cx="4286250" cy="1928813"/>
          </a:xfrm>
          <a:prstGeom prst="rect">
            <a:avLst/>
          </a:prstGeom>
          <a:solidFill>
            <a:srgbClr val="FFFFFF"/>
          </a:solidFill>
          <a:ln/>
        </p:spPr>
      </p:sp>
      <p:sp>
        <p:nvSpPr>
          <p:cNvPr id="4" name="Shape 1"/>
          <p:cNvSpPr/>
          <p:nvPr/>
        </p:nvSpPr>
        <p:spPr>
          <a:xfrm>
            <a:off x="714375" y="642938"/>
            <a:ext cx="357188" cy="357188"/>
          </a:xfrm>
          <a:prstGeom prst="ellipse">
            <a:avLst/>
          </a:prstGeom>
          <a:solidFill>
            <a:srgbClr val="0F766E">
              <a:alpha val="15000"/>
            </a:srgbClr>
          </a:solidFill>
          <a:ln/>
        </p:spPr>
      </p:sp>
      <p:pic>
        <p:nvPicPr>
          <p:cNvPr id="5" name="Image 1" descr="preencoded.png"/>
          <p:cNvPicPr>
            <a:picLocks noChangeAspect="1"/>
          </p:cNvPicPr>
          <p:nvPr/>
        </p:nvPicPr>
        <p:blipFill>
          <a:blip r:embed="rId4"/>
          <a:stretch>
            <a:fillRect/>
          </a:stretch>
        </p:blipFill>
        <p:spPr>
          <a:xfrm>
            <a:off x="821531" y="750094"/>
            <a:ext cx="142875" cy="142875"/>
          </a:xfrm>
          <a:prstGeom prst="rect">
            <a:avLst/>
          </a:prstGeom>
        </p:spPr>
      </p:pic>
      <p:sp>
        <p:nvSpPr>
          <p:cNvPr id="6" name="Text 2"/>
          <p:cNvSpPr/>
          <p:nvPr/>
        </p:nvSpPr>
        <p:spPr>
          <a:xfrm>
            <a:off x="714375" y="1107281"/>
            <a:ext cx="3714750" cy="208955"/>
          </a:xfrm>
          <a:prstGeom prst="rect">
            <a:avLst/>
          </a:prstGeom>
          <a:noFill/>
          <a:ln/>
        </p:spPr>
        <p:txBody>
          <a:bodyPr wrap="square" lIns="0" tIns="0" rIns="0" bIns="0" rtlCol="0" anchor="t">
            <a:spAutoFit/>
          </a:bodyPr>
          <a:lstStyle/>
          <a:p>
            <a:pPr marL="0" indent="0" algn="l">
              <a:buNone/>
            </a:pPr>
            <a:r>
              <a:rPr lang="en-US" sz="1200" b="1" dirty="0">
                <a:solidFill>
                  <a:srgbClr val="0F766E"/>
                </a:solidFill>
                <a:latin typeface="Montserrat Black" pitchFamily="34" charset="0"/>
                <a:ea typeface="Montserrat Black" pitchFamily="34" charset="-122"/>
                <a:cs typeface="Montserrat Black" pitchFamily="34" charset="-120"/>
              </a:rPr>
              <a:t>VISION</a:t>
            </a:r>
            <a:endParaRPr lang="en-US" sz="1200" dirty="0"/>
          </a:p>
        </p:txBody>
      </p:sp>
      <p:sp>
        <p:nvSpPr>
          <p:cNvPr id="7" name="Text 3"/>
          <p:cNvSpPr/>
          <p:nvPr/>
        </p:nvSpPr>
        <p:spPr>
          <a:xfrm>
            <a:off x="714375" y="1423392"/>
            <a:ext cx="3714750" cy="731453"/>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001B3A"/>
                </a:solidFill>
                <a:latin typeface="Montserrat Medium" pitchFamily="34" charset="0"/>
                <a:ea typeface="Montserrat Medium" pitchFamily="34" charset="-122"/>
                <a:cs typeface="Montserrat Medium" pitchFamily="34" charset="-120"/>
              </a:rPr>
              <a:t>To be the leading company in the Arab world in providing high-quality cookware using healthy granite technology, giving every kitchen a faster, healthier, and more distinctive cooking experience.</a:t>
            </a:r>
            <a:endParaRPr lang="en-US" sz="850" dirty="0"/>
          </a:p>
        </p:txBody>
      </p:sp>
      <p:sp>
        <p:nvSpPr>
          <p:cNvPr id="8" name="Shape 4"/>
          <p:cNvSpPr/>
          <p:nvPr/>
        </p:nvSpPr>
        <p:spPr>
          <a:xfrm>
            <a:off x="428625" y="2571750"/>
            <a:ext cx="4286250" cy="1928813"/>
          </a:xfrm>
          <a:prstGeom prst="rect">
            <a:avLst/>
          </a:prstGeom>
          <a:solidFill>
            <a:srgbClr val="FFFFFF"/>
          </a:solidFill>
          <a:ln/>
        </p:spPr>
      </p:sp>
      <p:sp>
        <p:nvSpPr>
          <p:cNvPr id="9" name="Shape 5"/>
          <p:cNvSpPr/>
          <p:nvPr/>
        </p:nvSpPr>
        <p:spPr>
          <a:xfrm>
            <a:off x="714375" y="2786063"/>
            <a:ext cx="357188" cy="357188"/>
          </a:xfrm>
          <a:prstGeom prst="ellipse">
            <a:avLst/>
          </a:prstGeom>
          <a:solidFill>
            <a:srgbClr val="0F766E">
              <a:alpha val="15000"/>
            </a:srgbClr>
          </a:solidFill>
          <a:ln/>
        </p:spPr>
      </p:sp>
      <p:pic>
        <p:nvPicPr>
          <p:cNvPr id="10" name="Image 2" descr="preencoded.png"/>
          <p:cNvPicPr>
            <a:picLocks noChangeAspect="1"/>
          </p:cNvPicPr>
          <p:nvPr/>
        </p:nvPicPr>
        <p:blipFill>
          <a:blip r:embed="rId5"/>
          <a:stretch>
            <a:fillRect/>
          </a:stretch>
        </p:blipFill>
        <p:spPr>
          <a:xfrm>
            <a:off x="821531" y="2893219"/>
            <a:ext cx="142875" cy="142875"/>
          </a:xfrm>
          <a:prstGeom prst="rect">
            <a:avLst/>
          </a:prstGeom>
        </p:spPr>
      </p:pic>
      <p:sp>
        <p:nvSpPr>
          <p:cNvPr id="11" name="Text 6"/>
          <p:cNvSpPr/>
          <p:nvPr/>
        </p:nvSpPr>
        <p:spPr>
          <a:xfrm>
            <a:off x="714375" y="3250406"/>
            <a:ext cx="3714750" cy="208955"/>
          </a:xfrm>
          <a:prstGeom prst="rect">
            <a:avLst/>
          </a:prstGeom>
          <a:noFill/>
          <a:ln/>
        </p:spPr>
        <p:txBody>
          <a:bodyPr wrap="square" lIns="0" tIns="0" rIns="0" bIns="0" rtlCol="0" anchor="t">
            <a:spAutoFit/>
          </a:bodyPr>
          <a:lstStyle/>
          <a:p>
            <a:pPr marL="0" indent="0" algn="l">
              <a:buNone/>
            </a:pPr>
            <a:r>
              <a:rPr lang="en-US" sz="1200" b="1" dirty="0">
                <a:solidFill>
                  <a:srgbClr val="0F766E"/>
                </a:solidFill>
                <a:latin typeface="Montserrat Black" pitchFamily="34" charset="0"/>
                <a:ea typeface="Montserrat Black" pitchFamily="34" charset="-122"/>
                <a:cs typeface="Montserrat Black" pitchFamily="34" charset="-120"/>
              </a:rPr>
              <a:t>MISSION</a:t>
            </a:r>
            <a:endParaRPr lang="en-US" sz="1200" dirty="0"/>
          </a:p>
        </p:txBody>
      </p:sp>
      <p:sp>
        <p:nvSpPr>
          <p:cNvPr id="12" name="Text 7"/>
          <p:cNvSpPr/>
          <p:nvPr/>
        </p:nvSpPr>
        <p:spPr>
          <a:xfrm>
            <a:off x="714375" y="3566517"/>
            <a:ext cx="3714750" cy="731453"/>
          </a:xfrm>
          <a:prstGeom prst="rect">
            <a:avLst/>
          </a:prstGeom>
          <a:noFill/>
          <a:ln/>
        </p:spPr>
        <p:txBody>
          <a:bodyPr wrap="square" lIns="0" tIns="0" rIns="0" bIns="0" rtlCol="0" anchor="t">
            <a:spAutoFit/>
          </a:bodyPr>
          <a:lstStyle/>
          <a:p>
            <a:pPr marL="0" indent="0" algn="l">
              <a:lnSpc>
                <a:spcPct val="128000"/>
              </a:lnSpc>
              <a:buNone/>
            </a:pPr>
            <a:r>
              <a:rPr lang="en-US" sz="850" dirty="0">
                <a:solidFill>
                  <a:srgbClr val="001B3A"/>
                </a:solidFill>
                <a:latin typeface="Montserrat Medium" pitchFamily="34" charset="0"/>
                <a:ea typeface="Montserrat Medium" pitchFamily="34" charset="-122"/>
                <a:cs typeface="Montserrat Medium" pitchFamily="34" charset="-120"/>
              </a:rPr>
              <a:t>At Glory, we work to improve the cooking experience by providing high-quality granite cookware that distributes heat efficiently, is non-stick, easy to clean, and comes in modern colors that suit different tastes.</a:t>
            </a:r>
            <a:endParaRPr lang="en-US" sz="850" dirty="0"/>
          </a:p>
        </p:txBody>
      </p:sp>
      <p:pic>
        <p:nvPicPr>
          <p:cNvPr id="13" name="Image 3" descr="preencoded.png"/>
          <p:cNvPicPr>
            <a:picLocks noChangeAspect="1"/>
          </p:cNvPicPr>
          <p:nvPr/>
        </p:nvPicPr>
        <p:blipFill>
          <a:blip r:embed="rId6"/>
          <a:stretch>
            <a:fillRect/>
          </a:stretch>
        </p:blipFill>
        <p:spPr>
          <a:xfrm>
            <a:off x="5000625" y="428625"/>
            <a:ext cx="3857625" cy="42862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357188" cy="357188"/>
          </a:xfrm>
          <a:prstGeom prst="ellipse">
            <a:avLst/>
          </a:prstGeom>
          <a:solidFill>
            <a:srgbClr val="0F766E">
              <a:alpha val="15000"/>
            </a:srgbClr>
          </a:solidFill>
          <a:ln/>
        </p:spPr>
      </p:sp>
      <p:pic>
        <p:nvPicPr>
          <p:cNvPr id="4" name="Image 1" descr="preencoded.png"/>
          <p:cNvPicPr>
            <a:picLocks noChangeAspect="1"/>
          </p:cNvPicPr>
          <p:nvPr/>
        </p:nvPicPr>
        <p:blipFill>
          <a:blip r:embed="rId4"/>
          <a:stretch>
            <a:fillRect/>
          </a:stretch>
        </p:blipFill>
        <p:spPr>
          <a:xfrm>
            <a:off x="535781" y="392906"/>
            <a:ext cx="142875" cy="142875"/>
          </a:xfrm>
          <a:prstGeom prst="rect">
            <a:avLst/>
          </a:prstGeom>
        </p:spPr>
      </p:pic>
      <p:sp>
        <p:nvSpPr>
          <p:cNvPr id="5" name="Text 1"/>
          <p:cNvSpPr/>
          <p:nvPr/>
        </p:nvSpPr>
        <p:spPr>
          <a:xfrm>
            <a:off x="428625" y="714375"/>
            <a:ext cx="8715375" cy="278606"/>
          </a:xfrm>
          <a:prstGeom prst="rect">
            <a:avLst/>
          </a:prstGeom>
          <a:noFill/>
          <a:ln/>
        </p:spPr>
        <p:txBody>
          <a:bodyPr wrap="square" lIns="0" tIns="0" rIns="0" bIns="0" rtlCol="0" anchor="t">
            <a:spAutoFit/>
          </a:bodyPr>
          <a:lstStyle/>
          <a:p>
            <a:pPr marL="0" indent="0" algn="l">
              <a:buNone/>
            </a:pPr>
            <a:r>
              <a:rPr lang="en-US" sz="1600" b="1" dirty="0">
                <a:solidFill>
                  <a:srgbClr val="001B3A"/>
                </a:solidFill>
                <a:latin typeface="Montserrat Black" pitchFamily="34" charset="0"/>
                <a:ea typeface="Montserrat Black" pitchFamily="34" charset="-122"/>
                <a:cs typeface="Montserrat Black" pitchFamily="34" charset="-120"/>
              </a:rPr>
              <a:t>MARKET RESEARCH: PESTEL ANALYSIS</a:t>
            </a:r>
            <a:endParaRPr lang="en-US" sz="1600" dirty="0"/>
          </a:p>
        </p:txBody>
      </p:sp>
      <p:sp>
        <p:nvSpPr>
          <p:cNvPr id="6" name="Shape 2"/>
          <p:cNvSpPr/>
          <p:nvPr/>
        </p:nvSpPr>
        <p:spPr>
          <a:xfrm>
            <a:off x="428625" y="1207294"/>
            <a:ext cx="2666991" cy="1714500"/>
          </a:xfrm>
          <a:prstGeom prst="rect">
            <a:avLst/>
          </a:prstGeom>
          <a:solidFill>
            <a:srgbClr val="FFFFFF"/>
          </a:solidFill>
          <a:ln/>
        </p:spPr>
      </p:sp>
      <p:sp>
        <p:nvSpPr>
          <p:cNvPr id="7" name="Shape 3"/>
          <p:cNvSpPr/>
          <p:nvPr/>
        </p:nvSpPr>
        <p:spPr>
          <a:xfrm>
            <a:off x="607219" y="1385888"/>
            <a:ext cx="285750" cy="285750"/>
          </a:xfrm>
          <a:prstGeom prst="ellipse">
            <a:avLst/>
          </a:prstGeom>
          <a:solidFill>
            <a:srgbClr val="0F766E">
              <a:alpha val="15000"/>
            </a:srgbClr>
          </a:solidFill>
          <a:ln/>
        </p:spPr>
      </p:sp>
      <p:pic>
        <p:nvPicPr>
          <p:cNvPr id="8" name="Image 2" descr="preencoded.png"/>
          <p:cNvPicPr>
            <a:picLocks noChangeAspect="1"/>
          </p:cNvPicPr>
          <p:nvPr/>
        </p:nvPicPr>
        <p:blipFill>
          <a:blip r:embed="rId5"/>
          <a:stretch>
            <a:fillRect/>
          </a:stretch>
        </p:blipFill>
        <p:spPr>
          <a:xfrm>
            <a:off x="692944" y="1471613"/>
            <a:ext cx="114300" cy="114300"/>
          </a:xfrm>
          <a:prstGeom prst="rect">
            <a:avLst/>
          </a:prstGeom>
        </p:spPr>
      </p:pic>
      <p:sp>
        <p:nvSpPr>
          <p:cNvPr id="9" name="Text 4"/>
          <p:cNvSpPr/>
          <p:nvPr/>
        </p:nvSpPr>
        <p:spPr>
          <a:xfrm>
            <a:off x="1000125" y="1450181"/>
            <a:ext cx="732234" cy="157163"/>
          </a:xfrm>
          <a:prstGeom prst="rect">
            <a:avLst/>
          </a:prstGeom>
          <a:noFill/>
          <a:ln/>
        </p:spPr>
        <p:txBody>
          <a:bodyPr wrap="non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POLITICAL</a:t>
            </a:r>
            <a:endParaRPr lang="en-US" sz="900" dirty="0"/>
          </a:p>
        </p:txBody>
      </p:sp>
      <p:sp>
        <p:nvSpPr>
          <p:cNvPr id="10" name="Shape 5"/>
          <p:cNvSpPr/>
          <p:nvPr/>
        </p:nvSpPr>
        <p:spPr>
          <a:xfrm>
            <a:off x="607219" y="1821656"/>
            <a:ext cx="28575" cy="28575"/>
          </a:xfrm>
          <a:prstGeom prst="ellipse">
            <a:avLst/>
          </a:prstGeom>
          <a:solidFill>
            <a:srgbClr val="0F766E"/>
          </a:solidFill>
          <a:ln/>
        </p:spPr>
      </p:sp>
      <p:sp>
        <p:nvSpPr>
          <p:cNvPr id="11" name="Text 6"/>
          <p:cNvSpPr/>
          <p:nvPr/>
        </p:nvSpPr>
        <p:spPr>
          <a:xfrm>
            <a:off x="607219" y="1778794"/>
            <a:ext cx="2309803"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Rising petroleum prices impacting shipping costs.</a:t>
            </a:r>
            <a:endParaRPr lang="en-US" sz="650" dirty="0"/>
          </a:p>
        </p:txBody>
      </p:sp>
      <p:sp>
        <p:nvSpPr>
          <p:cNvPr id="12" name="Shape 7"/>
          <p:cNvSpPr/>
          <p:nvPr/>
        </p:nvSpPr>
        <p:spPr>
          <a:xfrm>
            <a:off x="607219" y="2138828"/>
            <a:ext cx="28575" cy="28575"/>
          </a:xfrm>
          <a:prstGeom prst="ellipse">
            <a:avLst/>
          </a:prstGeom>
          <a:solidFill>
            <a:srgbClr val="0F766E"/>
          </a:solidFill>
          <a:ln/>
        </p:spPr>
      </p:sp>
      <p:sp>
        <p:nvSpPr>
          <p:cNvPr id="13" name="Text 8"/>
          <p:cNvSpPr/>
          <p:nvPr/>
        </p:nvSpPr>
        <p:spPr>
          <a:xfrm>
            <a:off x="607219" y="2095965"/>
            <a:ext cx="2309803" cy="130011"/>
          </a:xfrm>
          <a:prstGeom prst="rect">
            <a:avLst/>
          </a:prstGeom>
          <a:noFill/>
          <a:ln/>
        </p:spPr>
        <p:txBody>
          <a:bodyPr wrap="non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14% Value Added Tax (VAT) on sales.</a:t>
            </a:r>
            <a:endParaRPr lang="en-US" sz="650" dirty="0"/>
          </a:p>
        </p:txBody>
      </p:sp>
      <p:sp>
        <p:nvSpPr>
          <p:cNvPr id="14" name="Shape 9"/>
          <p:cNvSpPr/>
          <p:nvPr/>
        </p:nvSpPr>
        <p:spPr>
          <a:xfrm>
            <a:off x="607219" y="2325988"/>
            <a:ext cx="28575" cy="28575"/>
          </a:xfrm>
          <a:prstGeom prst="ellipse">
            <a:avLst/>
          </a:prstGeom>
          <a:solidFill>
            <a:srgbClr val="0F766E"/>
          </a:solidFill>
          <a:ln/>
        </p:spPr>
      </p:sp>
      <p:sp>
        <p:nvSpPr>
          <p:cNvPr id="15" name="Text 10"/>
          <p:cNvSpPr/>
          <p:nvPr/>
        </p:nvSpPr>
        <p:spPr>
          <a:xfrm>
            <a:off x="607219" y="2283126"/>
            <a:ext cx="2309803"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Regional trade route disruptions affecting customs.</a:t>
            </a:r>
            <a:endParaRPr lang="en-US" sz="650" dirty="0"/>
          </a:p>
        </p:txBody>
      </p:sp>
      <p:sp>
        <p:nvSpPr>
          <p:cNvPr id="16" name="Shape 11"/>
          <p:cNvSpPr/>
          <p:nvPr/>
        </p:nvSpPr>
        <p:spPr>
          <a:xfrm>
            <a:off x="3238491" y="1207294"/>
            <a:ext cx="2666991" cy="1714500"/>
          </a:xfrm>
          <a:prstGeom prst="rect">
            <a:avLst/>
          </a:prstGeom>
          <a:solidFill>
            <a:srgbClr val="FFFFFF"/>
          </a:solidFill>
          <a:ln/>
        </p:spPr>
      </p:sp>
      <p:sp>
        <p:nvSpPr>
          <p:cNvPr id="17" name="Shape 12"/>
          <p:cNvSpPr/>
          <p:nvPr/>
        </p:nvSpPr>
        <p:spPr>
          <a:xfrm>
            <a:off x="3417084" y="1385888"/>
            <a:ext cx="285750" cy="285750"/>
          </a:xfrm>
          <a:prstGeom prst="ellipse">
            <a:avLst/>
          </a:prstGeom>
          <a:solidFill>
            <a:srgbClr val="0F766E">
              <a:alpha val="15000"/>
            </a:srgbClr>
          </a:solidFill>
          <a:ln/>
        </p:spPr>
      </p:sp>
      <p:pic>
        <p:nvPicPr>
          <p:cNvPr id="18" name="Image 3" descr="preencoded.png"/>
          <p:cNvPicPr>
            <a:picLocks noChangeAspect="1"/>
          </p:cNvPicPr>
          <p:nvPr/>
        </p:nvPicPr>
        <p:blipFill>
          <a:blip r:embed="rId6"/>
          <a:stretch>
            <a:fillRect/>
          </a:stretch>
        </p:blipFill>
        <p:spPr>
          <a:xfrm>
            <a:off x="3524241" y="1471613"/>
            <a:ext cx="71438" cy="114300"/>
          </a:xfrm>
          <a:prstGeom prst="rect">
            <a:avLst/>
          </a:prstGeom>
        </p:spPr>
      </p:pic>
      <p:sp>
        <p:nvSpPr>
          <p:cNvPr id="19" name="Text 13"/>
          <p:cNvSpPr/>
          <p:nvPr/>
        </p:nvSpPr>
        <p:spPr>
          <a:xfrm>
            <a:off x="3809991" y="1450181"/>
            <a:ext cx="941189" cy="157163"/>
          </a:xfrm>
          <a:prstGeom prst="rect">
            <a:avLst/>
          </a:prstGeom>
          <a:noFill/>
          <a:ln/>
        </p:spPr>
        <p:txBody>
          <a:bodyPr wrap="non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ECONOMICAL</a:t>
            </a:r>
            <a:endParaRPr lang="en-US" sz="900" dirty="0"/>
          </a:p>
        </p:txBody>
      </p:sp>
      <p:sp>
        <p:nvSpPr>
          <p:cNvPr id="20" name="Shape 14"/>
          <p:cNvSpPr/>
          <p:nvPr/>
        </p:nvSpPr>
        <p:spPr>
          <a:xfrm>
            <a:off x="3417084" y="1821656"/>
            <a:ext cx="28575" cy="28575"/>
          </a:xfrm>
          <a:prstGeom prst="ellipse">
            <a:avLst/>
          </a:prstGeom>
          <a:solidFill>
            <a:srgbClr val="0F766E"/>
          </a:solidFill>
          <a:ln/>
        </p:spPr>
      </p:sp>
      <p:sp>
        <p:nvSpPr>
          <p:cNvPr id="21" name="Text 15"/>
          <p:cNvSpPr/>
          <p:nvPr/>
        </p:nvSpPr>
        <p:spPr>
          <a:xfrm>
            <a:off x="3417084" y="1778794"/>
            <a:ext cx="2309803"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Inflation increasing raw material and wage costs.</a:t>
            </a:r>
            <a:endParaRPr lang="en-US" sz="650" dirty="0"/>
          </a:p>
        </p:txBody>
      </p:sp>
      <p:sp>
        <p:nvSpPr>
          <p:cNvPr id="22" name="Shape 16"/>
          <p:cNvSpPr/>
          <p:nvPr/>
        </p:nvSpPr>
        <p:spPr>
          <a:xfrm>
            <a:off x="3417084" y="2138828"/>
            <a:ext cx="28575" cy="28575"/>
          </a:xfrm>
          <a:prstGeom prst="ellipse">
            <a:avLst/>
          </a:prstGeom>
          <a:solidFill>
            <a:srgbClr val="0F766E"/>
          </a:solidFill>
          <a:ln/>
        </p:spPr>
      </p:sp>
      <p:sp>
        <p:nvSpPr>
          <p:cNvPr id="23" name="Text 17"/>
          <p:cNvSpPr/>
          <p:nvPr/>
        </p:nvSpPr>
        <p:spPr>
          <a:xfrm>
            <a:off x="3417084" y="2095965"/>
            <a:ext cx="2309803" cy="130011"/>
          </a:xfrm>
          <a:prstGeom prst="rect">
            <a:avLst/>
          </a:prstGeom>
          <a:noFill/>
          <a:ln/>
        </p:spPr>
        <p:txBody>
          <a:bodyPr wrap="non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Currency depreciation affecting import prices.</a:t>
            </a:r>
            <a:endParaRPr lang="en-US" sz="650" dirty="0"/>
          </a:p>
        </p:txBody>
      </p:sp>
      <p:sp>
        <p:nvSpPr>
          <p:cNvPr id="24" name="Shape 18"/>
          <p:cNvSpPr/>
          <p:nvPr/>
        </p:nvSpPr>
        <p:spPr>
          <a:xfrm>
            <a:off x="3417084" y="2325988"/>
            <a:ext cx="28575" cy="28575"/>
          </a:xfrm>
          <a:prstGeom prst="ellipse">
            <a:avLst/>
          </a:prstGeom>
          <a:solidFill>
            <a:srgbClr val="0F766E"/>
          </a:solidFill>
          <a:ln/>
        </p:spPr>
      </p:sp>
      <p:sp>
        <p:nvSpPr>
          <p:cNvPr id="25" name="Text 19"/>
          <p:cNvSpPr/>
          <p:nvPr/>
        </p:nvSpPr>
        <p:spPr>
          <a:xfrm>
            <a:off x="3417084" y="2283126"/>
            <a:ext cx="2309803"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Reduced consumer purchasing power for non-essentials.</a:t>
            </a:r>
            <a:endParaRPr lang="en-US" sz="650" dirty="0"/>
          </a:p>
        </p:txBody>
      </p:sp>
      <p:sp>
        <p:nvSpPr>
          <p:cNvPr id="26" name="Shape 20"/>
          <p:cNvSpPr/>
          <p:nvPr/>
        </p:nvSpPr>
        <p:spPr>
          <a:xfrm>
            <a:off x="6048356" y="1207294"/>
            <a:ext cx="2667019" cy="1714500"/>
          </a:xfrm>
          <a:prstGeom prst="rect">
            <a:avLst/>
          </a:prstGeom>
          <a:solidFill>
            <a:srgbClr val="FFFFFF"/>
          </a:solidFill>
          <a:ln/>
        </p:spPr>
      </p:sp>
      <p:sp>
        <p:nvSpPr>
          <p:cNvPr id="27" name="Shape 21"/>
          <p:cNvSpPr/>
          <p:nvPr/>
        </p:nvSpPr>
        <p:spPr>
          <a:xfrm>
            <a:off x="6226950" y="1385888"/>
            <a:ext cx="285750" cy="285750"/>
          </a:xfrm>
          <a:prstGeom prst="ellipse">
            <a:avLst/>
          </a:prstGeom>
          <a:solidFill>
            <a:srgbClr val="0F766E">
              <a:alpha val="15000"/>
            </a:srgbClr>
          </a:solidFill>
          <a:ln/>
        </p:spPr>
      </p:sp>
      <p:pic>
        <p:nvPicPr>
          <p:cNvPr id="28" name="Image 4" descr="preencoded.png"/>
          <p:cNvPicPr>
            <a:picLocks noChangeAspect="1"/>
          </p:cNvPicPr>
          <p:nvPr/>
        </p:nvPicPr>
        <p:blipFill>
          <a:blip r:embed="rId7"/>
          <a:stretch>
            <a:fillRect/>
          </a:stretch>
        </p:blipFill>
        <p:spPr>
          <a:xfrm>
            <a:off x="6298388" y="1471613"/>
            <a:ext cx="142875" cy="114300"/>
          </a:xfrm>
          <a:prstGeom prst="rect">
            <a:avLst/>
          </a:prstGeom>
        </p:spPr>
      </p:pic>
      <p:sp>
        <p:nvSpPr>
          <p:cNvPr id="29" name="Text 22"/>
          <p:cNvSpPr/>
          <p:nvPr/>
        </p:nvSpPr>
        <p:spPr>
          <a:xfrm>
            <a:off x="6619856" y="1450181"/>
            <a:ext cx="514350" cy="157163"/>
          </a:xfrm>
          <a:prstGeom prst="rect">
            <a:avLst/>
          </a:prstGeom>
          <a:noFill/>
          <a:ln/>
        </p:spPr>
        <p:txBody>
          <a:bodyPr wrap="non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SOCIAL</a:t>
            </a:r>
            <a:endParaRPr lang="en-US" sz="900" dirty="0"/>
          </a:p>
        </p:txBody>
      </p:sp>
      <p:sp>
        <p:nvSpPr>
          <p:cNvPr id="30" name="Shape 23"/>
          <p:cNvSpPr/>
          <p:nvPr/>
        </p:nvSpPr>
        <p:spPr>
          <a:xfrm>
            <a:off x="6226950" y="1821656"/>
            <a:ext cx="28575" cy="28575"/>
          </a:xfrm>
          <a:prstGeom prst="ellipse">
            <a:avLst/>
          </a:prstGeom>
          <a:solidFill>
            <a:srgbClr val="0F766E"/>
          </a:solidFill>
          <a:ln/>
        </p:spPr>
      </p:sp>
      <p:sp>
        <p:nvSpPr>
          <p:cNvPr id="31" name="Text 24"/>
          <p:cNvSpPr/>
          <p:nvPr/>
        </p:nvSpPr>
        <p:spPr>
          <a:xfrm>
            <a:off x="6226950" y="1778794"/>
            <a:ext cx="2309831"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High awareness of healthy, non-toxic cookware.</a:t>
            </a:r>
            <a:endParaRPr lang="en-US" sz="650" dirty="0"/>
          </a:p>
        </p:txBody>
      </p:sp>
      <p:sp>
        <p:nvSpPr>
          <p:cNvPr id="32" name="Shape 25"/>
          <p:cNvSpPr/>
          <p:nvPr/>
        </p:nvSpPr>
        <p:spPr>
          <a:xfrm>
            <a:off x="6226950" y="2138828"/>
            <a:ext cx="28575" cy="28575"/>
          </a:xfrm>
          <a:prstGeom prst="ellipse">
            <a:avLst/>
          </a:prstGeom>
          <a:solidFill>
            <a:srgbClr val="0F766E"/>
          </a:solidFill>
          <a:ln/>
        </p:spPr>
      </p:sp>
      <p:sp>
        <p:nvSpPr>
          <p:cNvPr id="33" name="Text 26"/>
          <p:cNvSpPr/>
          <p:nvPr/>
        </p:nvSpPr>
        <p:spPr>
          <a:xfrm>
            <a:off x="6226950" y="2095965"/>
            <a:ext cx="2309831"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Trend of buying large sets for home preparation (brides).</a:t>
            </a:r>
            <a:endParaRPr lang="en-US" sz="650" dirty="0"/>
          </a:p>
        </p:txBody>
      </p:sp>
      <p:sp>
        <p:nvSpPr>
          <p:cNvPr id="34" name="Shape 27"/>
          <p:cNvSpPr/>
          <p:nvPr/>
        </p:nvSpPr>
        <p:spPr>
          <a:xfrm>
            <a:off x="6226950" y="2455999"/>
            <a:ext cx="28575" cy="28575"/>
          </a:xfrm>
          <a:prstGeom prst="ellipse">
            <a:avLst/>
          </a:prstGeom>
          <a:solidFill>
            <a:srgbClr val="0F766E"/>
          </a:solidFill>
          <a:ln/>
        </p:spPr>
      </p:sp>
      <p:sp>
        <p:nvSpPr>
          <p:cNvPr id="35" name="Text 28"/>
          <p:cNvSpPr/>
          <p:nvPr/>
        </p:nvSpPr>
        <p:spPr>
          <a:xfrm>
            <a:off x="6226950" y="2413136"/>
            <a:ext cx="2309831"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Interest in modern, attractive kitchen furnishing.</a:t>
            </a:r>
            <a:endParaRPr lang="en-US" sz="650" dirty="0"/>
          </a:p>
        </p:txBody>
      </p:sp>
      <p:sp>
        <p:nvSpPr>
          <p:cNvPr id="36" name="Shape 29"/>
          <p:cNvSpPr/>
          <p:nvPr/>
        </p:nvSpPr>
        <p:spPr>
          <a:xfrm>
            <a:off x="428625" y="3064669"/>
            <a:ext cx="2666991" cy="1714500"/>
          </a:xfrm>
          <a:prstGeom prst="rect">
            <a:avLst/>
          </a:prstGeom>
          <a:solidFill>
            <a:srgbClr val="FFFFFF"/>
          </a:solidFill>
          <a:ln/>
        </p:spPr>
      </p:sp>
      <p:sp>
        <p:nvSpPr>
          <p:cNvPr id="37" name="Shape 30"/>
          <p:cNvSpPr/>
          <p:nvPr/>
        </p:nvSpPr>
        <p:spPr>
          <a:xfrm>
            <a:off x="607219" y="3243263"/>
            <a:ext cx="285750" cy="285750"/>
          </a:xfrm>
          <a:prstGeom prst="ellipse">
            <a:avLst/>
          </a:prstGeom>
          <a:solidFill>
            <a:srgbClr val="0F766E">
              <a:alpha val="15000"/>
            </a:srgbClr>
          </a:solidFill>
          <a:ln/>
        </p:spPr>
      </p:sp>
      <p:pic>
        <p:nvPicPr>
          <p:cNvPr id="38" name="Image 5" descr="preencoded.png"/>
          <p:cNvPicPr>
            <a:picLocks noChangeAspect="1"/>
          </p:cNvPicPr>
          <p:nvPr/>
        </p:nvPicPr>
        <p:blipFill>
          <a:blip r:embed="rId8"/>
          <a:stretch>
            <a:fillRect/>
          </a:stretch>
        </p:blipFill>
        <p:spPr>
          <a:xfrm>
            <a:off x="692944" y="3328988"/>
            <a:ext cx="114300" cy="114300"/>
          </a:xfrm>
          <a:prstGeom prst="rect">
            <a:avLst/>
          </a:prstGeom>
        </p:spPr>
      </p:pic>
      <p:sp>
        <p:nvSpPr>
          <p:cNvPr id="39" name="Text 31"/>
          <p:cNvSpPr/>
          <p:nvPr/>
        </p:nvSpPr>
        <p:spPr>
          <a:xfrm>
            <a:off x="1000125" y="3307556"/>
            <a:ext cx="1184077" cy="157163"/>
          </a:xfrm>
          <a:prstGeom prst="rect">
            <a:avLst/>
          </a:prstGeom>
          <a:noFill/>
          <a:ln/>
        </p:spPr>
        <p:txBody>
          <a:bodyPr wrap="non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TECHNOLOGICAL</a:t>
            </a:r>
            <a:endParaRPr lang="en-US" sz="900" dirty="0"/>
          </a:p>
        </p:txBody>
      </p:sp>
      <p:sp>
        <p:nvSpPr>
          <p:cNvPr id="40" name="Shape 32"/>
          <p:cNvSpPr/>
          <p:nvPr/>
        </p:nvSpPr>
        <p:spPr>
          <a:xfrm>
            <a:off x="607219" y="3679031"/>
            <a:ext cx="28575" cy="28575"/>
          </a:xfrm>
          <a:prstGeom prst="ellipse">
            <a:avLst/>
          </a:prstGeom>
          <a:solidFill>
            <a:srgbClr val="0F766E"/>
          </a:solidFill>
          <a:ln/>
        </p:spPr>
      </p:sp>
      <p:sp>
        <p:nvSpPr>
          <p:cNvPr id="41" name="Text 33"/>
          <p:cNvSpPr/>
          <p:nvPr/>
        </p:nvSpPr>
        <p:spPr>
          <a:xfrm>
            <a:off x="607219" y="3636169"/>
            <a:ext cx="2309803" cy="130011"/>
          </a:xfrm>
          <a:prstGeom prst="rect">
            <a:avLst/>
          </a:prstGeom>
          <a:noFill/>
          <a:ln/>
        </p:spPr>
        <p:txBody>
          <a:bodyPr wrap="non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E-commerce growth and social media reviews.</a:t>
            </a:r>
            <a:endParaRPr lang="en-US" sz="650" dirty="0"/>
          </a:p>
        </p:txBody>
      </p:sp>
      <p:sp>
        <p:nvSpPr>
          <p:cNvPr id="42" name="Shape 34"/>
          <p:cNvSpPr/>
          <p:nvPr/>
        </p:nvSpPr>
        <p:spPr>
          <a:xfrm>
            <a:off x="607219" y="3866192"/>
            <a:ext cx="28575" cy="28575"/>
          </a:xfrm>
          <a:prstGeom prst="ellipse">
            <a:avLst/>
          </a:prstGeom>
          <a:solidFill>
            <a:srgbClr val="0F766E"/>
          </a:solidFill>
          <a:ln/>
        </p:spPr>
      </p:sp>
      <p:sp>
        <p:nvSpPr>
          <p:cNvPr id="43" name="Text 35"/>
          <p:cNvSpPr/>
          <p:nvPr/>
        </p:nvSpPr>
        <p:spPr>
          <a:xfrm>
            <a:off x="607219" y="3823329"/>
            <a:ext cx="2309803" cy="130011"/>
          </a:xfrm>
          <a:prstGeom prst="rect">
            <a:avLst/>
          </a:prstGeom>
          <a:noFill/>
          <a:ln/>
        </p:spPr>
        <p:txBody>
          <a:bodyPr wrap="non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Adoption of digital payments (Visa/E-wallets).</a:t>
            </a:r>
            <a:endParaRPr lang="en-US" sz="650" dirty="0"/>
          </a:p>
        </p:txBody>
      </p:sp>
      <p:sp>
        <p:nvSpPr>
          <p:cNvPr id="44" name="Shape 36"/>
          <p:cNvSpPr/>
          <p:nvPr/>
        </p:nvSpPr>
        <p:spPr>
          <a:xfrm>
            <a:off x="607219" y="4053353"/>
            <a:ext cx="28575" cy="28575"/>
          </a:xfrm>
          <a:prstGeom prst="ellipse">
            <a:avLst/>
          </a:prstGeom>
          <a:solidFill>
            <a:srgbClr val="0F766E"/>
          </a:solidFill>
          <a:ln/>
        </p:spPr>
      </p:sp>
      <p:sp>
        <p:nvSpPr>
          <p:cNvPr id="45" name="Text 37"/>
          <p:cNvSpPr/>
          <p:nvPr/>
        </p:nvSpPr>
        <p:spPr>
          <a:xfrm>
            <a:off x="607219" y="4010490"/>
            <a:ext cx="2309803" cy="130011"/>
          </a:xfrm>
          <a:prstGeom prst="rect">
            <a:avLst/>
          </a:prstGeom>
          <a:noFill/>
          <a:ln/>
        </p:spPr>
        <p:txBody>
          <a:bodyPr wrap="non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Advanced manufacturing for heat distribution.</a:t>
            </a:r>
            <a:endParaRPr lang="en-US" sz="650" dirty="0"/>
          </a:p>
        </p:txBody>
      </p:sp>
      <p:sp>
        <p:nvSpPr>
          <p:cNvPr id="46" name="Shape 38"/>
          <p:cNvSpPr/>
          <p:nvPr/>
        </p:nvSpPr>
        <p:spPr>
          <a:xfrm>
            <a:off x="3238491" y="3064669"/>
            <a:ext cx="2666991" cy="1714500"/>
          </a:xfrm>
          <a:prstGeom prst="rect">
            <a:avLst/>
          </a:prstGeom>
          <a:solidFill>
            <a:srgbClr val="FFFFFF"/>
          </a:solidFill>
          <a:ln/>
        </p:spPr>
      </p:sp>
      <p:sp>
        <p:nvSpPr>
          <p:cNvPr id="47" name="Shape 39"/>
          <p:cNvSpPr/>
          <p:nvPr/>
        </p:nvSpPr>
        <p:spPr>
          <a:xfrm>
            <a:off x="3417084" y="3243263"/>
            <a:ext cx="285750" cy="285750"/>
          </a:xfrm>
          <a:prstGeom prst="ellipse">
            <a:avLst/>
          </a:prstGeom>
          <a:solidFill>
            <a:srgbClr val="0F766E">
              <a:alpha val="15000"/>
            </a:srgbClr>
          </a:solidFill>
          <a:ln/>
        </p:spPr>
      </p:sp>
      <p:pic>
        <p:nvPicPr>
          <p:cNvPr id="48" name="Image 6" descr="preencoded.png"/>
          <p:cNvPicPr>
            <a:picLocks noChangeAspect="1"/>
          </p:cNvPicPr>
          <p:nvPr/>
        </p:nvPicPr>
        <p:blipFill>
          <a:blip r:embed="rId9"/>
          <a:stretch>
            <a:fillRect/>
          </a:stretch>
        </p:blipFill>
        <p:spPr>
          <a:xfrm>
            <a:off x="3502809" y="3328988"/>
            <a:ext cx="114300" cy="114300"/>
          </a:xfrm>
          <a:prstGeom prst="rect">
            <a:avLst/>
          </a:prstGeom>
        </p:spPr>
      </p:pic>
      <p:sp>
        <p:nvSpPr>
          <p:cNvPr id="49" name="Text 40"/>
          <p:cNvSpPr/>
          <p:nvPr/>
        </p:nvSpPr>
        <p:spPr>
          <a:xfrm>
            <a:off x="3809991" y="3307556"/>
            <a:ext cx="1214438" cy="157163"/>
          </a:xfrm>
          <a:prstGeom prst="rect">
            <a:avLst/>
          </a:prstGeom>
          <a:noFill/>
          <a:ln/>
        </p:spPr>
        <p:txBody>
          <a:bodyPr wrap="non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ENVIRONMENTAL</a:t>
            </a:r>
            <a:endParaRPr lang="en-US" sz="900" dirty="0"/>
          </a:p>
        </p:txBody>
      </p:sp>
      <p:sp>
        <p:nvSpPr>
          <p:cNvPr id="50" name="Shape 41"/>
          <p:cNvSpPr/>
          <p:nvPr/>
        </p:nvSpPr>
        <p:spPr>
          <a:xfrm>
            <a:off x="3417084" y="3679031"/>
            <a:ext cx="28575" cy="28575"/>
          </a:xfrm>
          <a:prstGeom prst="ellipse">
            <a:avLst/>
          </a:prstGeom>
          <a:solidFill>
            <a:srgbClr val="0F766E"/>
          </a:solidFill>
          <a:ln/>
        </p:spPr>
      </p:sp>
      <p:sp>
        <p:nvSpPr>
          <p:cNvPr id="51" name="Text 42"/>
          <p:cNvSpPr/>
          <p:nvPr/>
        </p:nvSpPr>
        <p:spPr>
          <a:xfrm>
            <a:off x="3417084" y="3636169"/>
            <a:ext cx="2309803" cy="130011"/>
          </a:xfrm>
          <a:prstGeom prst="rect">
            <a:avLst/>
          </a:prstGeom>
          <a:noFill/>
          <a:ln/>
        </p:spPr>
        <p:txBody>
          <a:bodyPr wrap="non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Energy-efficient furnaces and waste reduction.</a:t>
            </a:r>
            <a:endParaRPr lang="en-US" sz="650" dirty="0"/>
          </a:p>
        </p:txBody>
      </p:sp>
      <p:sp>
        <p:nvSpPr>
          <p:cNvPr id="52" name="Shape 43"/>
          <p:cNvSpPr/>
          <p:nvPr/>
        </p:nvSpPr>
        <p:spPr>
          <a:xfrm>
            <a:off x="3417084" y="3866192"/>
            <a:ext cx="28575" cy="28575"/>
          </a:xfrm>
          <a:prstGeom prst="ellipse">
            <a:avLst/>
          </a:prstGeom>
          <a:solidFill>
            <a:srgbClr val="0F766E"/>
          </a:solidFill>
          <a:ln/>
        </p:spPr>
      </p:sp>
      <p:sp>
        <p:nvSpPr>
          <p:cNvPr id="53" name="Text 44"/>
          <p:cNvSpPr/>
          <p:nvPr/>
        </p:nvSpPr>
        <p:spPr>
          <a:xfrm>
            <a:off x="3417084" y="3823329"/>
            <a:ext cx="2309803" cy="130011"/>
          </a:xfrm>
          <a:prstGeom prst="rect">
            <a:avLst/>
          </a:prstGeom>
          <a:noFill/>
          <a:ln/>
        </p:spPr>
        <p:txBody>
          <a:bodyPr wrap="non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Eco-friendly recyclable packaging focus.</a:t>
            </a:r>
            <a:endParaRPr lang="en-US" sz="650" dirty="0"/>
          </a:p>
        </p:txBody>
      </p:sp>
      <p:sp>
        <p:nvSpPr>
          <p:cNvPr id="54" name="Shape 45"/>
          <p:cNvSpPr/>
          <p:nvPr/>
        </p:nvSpPr>
        <p:spPr>
          <a:xfrm>
            <a:off x="3417084" y="4053353"/>
            <a:ext cx="28575" cy="28575"/>
          </a:xfrm>
          <a:prstGeom prst="ellipse">
            <a:avLst/>
          </a:prstGeom>
          <a:solidFill>
            <a:srgbClr val="0F766E"/>
          </a:solidFill>
          <a:ln/>
        </p:spPr>
      </p:sp>
      <p:sp>
        <p:nvSpPr>
          <p:cNvPr id="55" name="Text 46"/>
          <p:cNvSpPr/>
          <p:nvPr/>
        </p:nvSpPr>
        <p:spPr>
          <a:xfrm>
            <a:off x="3417084" y="4010490"/>
            <a:ext cx="2309803"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Management of industrial air and liquid emissions.</a:t>
            </a:r>
            <a:endParaRPr lang="en-US" sz="650" dirty="0"/>
          </a:p>
        </p:txBody>
      </p:sp>
      <p:sp>
        <p:nvSpPr>
          <p:cNvPr id="56" name="Shape 47"/>
          <p:cNvSpPr/>
          <p:nvPr/>
        </p:nvSpPr>
        <p:spPr>
          <a:xfrm>
            <a:off x="6048356" y="3064669"/>
            <a:ext cx="2667019" cy="1714500"/>
          </a:xfrm>
          <a:prstGeom prst="rect">
            <a:avLst/>
          </a:prstGeom>
          <a:solidFill>
            <a:srgbClr val="FFFFFF"/>
          </a:solidFill>
          <a:ln/>
        </p:spPr>
      </p:sp>
      <p:sp>
        <p:nvSpPr>
          <p:cNvPr id="57" name="Shape 48"/>
          <p:cNvSpPr/>
          <p:nvPr/>
        </p:nvSpPr>
        <p:spPr>
          <a:xfrm>
            <a:off x="6226950" y="3243263"/>
            <a:ext cx="285750" cy="285750"/>
          </a:xfrm>
          <a:prstGeom prst="ellipse">
            <a:avLst/>
          </a:prstGeom>
          <a:solidFill>
            <a:srgbClr val="0F766E">
              <a:alpha val="15000"/>
            </a:srgbClr>
          </a:solidFill>
          <a:ln/>
        </p:spPr>
      </p:sp>
      <p:pic>
        <p:nvPicPr>
          <p:cNvPr id="58" name="Image 7" descr="preencoded.png"/>
          <p:cNvPicPr>
            <a:picLocks noChangeAspect="1"/>
          </p:cNvPicPr>
          <p:nvPr/>
        </p:nvPicPr>
        <p:blipFill>
          <a:blip r:embed="rId10"/>
          <a:stretch>
            <a:fillRect/>
          </a:stretch>
        </p:blipFill>
        <p:spPr>
          <a:xfrm>
            <a:off x="6312675" y="3328988"/>
            <a:ext cx="114300" cy="114300"/>
          </a:xfrm>
          <a:prstGeom prst="rect">
            <a:avLst/>
          </a:prstGeom>
        </p:spPr>
      </p:pic>
      <p:sp>
        <p:nvSpPr>
          <p:cNvPr id="59" name="Text 49"/>
          <p:cNvSpPr/>
          <p:nvPr/>
        </p:nvSpPr>
        <p:spPr>
          <a:xfrm>
            <a:off x="6619856" y="3307556"/>
            <a:ext cx="444698" cy="157163"/>
          </a:xfrm>
          <a:prstGeom prst="rect">
            <a:avLst/>
          </a:prstGeom>
          <a:noFill/>
          <a:ln/>
        </p:spPr>
        <p:txBody>
          <a:bodyPr wrap="non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LEGAL</a:t>
            </a:r>
            <a:endParaRPr lang="en-US" sz="900" dirty="0"/>
          </a:p>
        </p:txBody>
      </p:sp>
      <p:sp>
        <p:nvSpPr>
          <p:cNvPr id="60" name="Shape 50"/>
          <p:cNvSpPr/>
          <p:nvPr/>
        </p:nvSpPr>
        <p:spPr>
          <a:xfrm>
            <a:off x="6226950" y="3679031"/>
            <a:ext cx="28575" cy="28575"/>
          </a:xfrm>
          <a:prstGeom prst="ellipse">
            <a:avLst/>
          </a:prstGeom>
          <a:solidFill>
            <a:srgbClr val="0F766E"/>
          </a:solidFill>
          <a:ln/>
        </p:spPr>
      </p:sp>
      <p:sp>
        <p:nvSpPr>
          <p:cNvPr id="61" name="Text 51"/>
          <p:cNvSpPr/>
          <p:nvPr/>
        </p:nvSpPr>
        <p:spPr>
          <a:xfrm>
            <a:off x="6226950" y="3636169"/>
            <a:ext cx="2309831" cy="130011"/>
          </a:xfrm>
          <a:prstGeom prst="rect">
            <a:avLst/>
          </a:prstGeom>
          <a:noFill/>
          <a:ln/>
        </p:spPr>
        <p:txBody>
          <a:bodyPr wrap="non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Consumer Protection Law No. 181 of 2018.</a:t>
            </a:r>
            <a:endParaRPr lang="en-US" sz="650" dirty="0"/>
          </a:p>
        </p:txBody>
      </p:sp>
      <p:sp>
        <p:nvSpPr>
          <p:cNvPr id="62" name="Shape 52"/>
          <p:cNvSpPr/>
          <p:nvPr/>
        </p:nvSpPr>
        <p:spPr>
          <a:xfrm>
            <a:off x="6226950" y="3866192"/>
            <a:ext cx="28575" cy="28575"/>
          </a:xfrm>
          <a:prstGeom prst="ellipse">
            <a:avLst/>
          </a:prstGeom>
          <a:solidFill>
            <a:srgbClr val="0F766E"/>
          </a:solidFill>
          <a:ln/>
        </p:spPr>
      </p:sp>
      <p:sp>
        <p:nvSpPr>
          <p:cNvPr id="63" name="Text 53"/>
          <p:cNvSpPr/>
          <p:nvPr/>
        </p:nvSpPr>
        <p:spPr>
          <a:xfrm>
            <a:off x="6226950" y="3823329"/>
            <a:ext cx="2309831"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Egyptian Organization for Standardization quality codes.</a:t>
            </a:r>
            <a:endParaRPr lang="en-US" sz="650" dirty="0"/>
          </a:p>
        </p:txBody>
      </p:sp>
      <p:sp>
        <p:nvSpPr>
          <p:cNvPr id="64" name="Shape 54"/>
          <p:cNvSpPr/>
          <p:nvPr/>
        </p:nvSpPr>
        <p:spPr>
          <a:xfrm>
            <a:off x="6226950" y="4183363"/>
            <a:ext cx="28575" cy="28575"/>
          </a:xfrm>
          <a:prstGeom prst="ellipse">
            <a:avLst/>
          </a:prstGeom>
          <a:solidFill>
            <a:srgbClr val="0F766E"/>
          </a:solidFill>
          <a:ln/>
        </p:spPr>
      </p:sp>
      <p:sp>
        <p:nvSpPr>
          <p:cNvPr id="65" name="Text 55"/>
          <p:cNvSpPr/>
          <p:nvPr/>
        </p:nvSpPr>
        <p:spPr>
          <a:xfrm>
            <a:off x="6226950" y="4140501"/>
            <a:ext cx="2309831" cy="260021"/>
          </a:xfrm>
          <a:prstGeom prst="rect">
            <a:avLst/>
          </a:prstGeom>
          <a:noFill/>
          <a:ln/>
        </p:spPr>
        <p:txBody>
          <a:bodyPr wrap="square" lIns="102108"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Intellectual property and trademark protection.</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222191" y="76343"/>
            <a:ext cx="431360" cy="426395"/>
          </a:xfrm>
          <a:prstGeom prst="ellipse">
            <a:avLst/>
          </a:prstGeom>
          <a:solidFill>
            <a:srgbClr val="0F766E">
              <a:alpha val="15000"/>
            </a:srgbClr>
          </a:solidFill>
          <a:ln/>
        </p:spPr>
        <p:txBody>
          <a:bodyPr/>
          <a:lstStyle/>
          <a:p>
            <a:endParaRPr lang="en-US" dirty="0"/>
          </a:p>
        </p:txBody>
      </p:sp>
      <p:sp>
        <p:nvSpPr>
          <p:cNvPr id="25" name="Text 19"/>
          <p:cNvSpPr/>
          <p:nvPr/>
        </p:nvSpPr>
        <p:spPr>
          <a:xfrm>
            <a:off x="4893469" y="2436019"/>
            <a:ext cx="65" cy="136191"/>
          </a:xfrm>
          <a:prstGeom prst="rect">
            <a:avLst/>
          </a:prstGeom>
          <a:noFill/>
          <a:ln/>
        </p:spPr>
        <p:txBody>
          <a:bodyPr wrap="none" lIns="0" tIns="0" rIns="0" bIns="0" rtlCol="0" anchor="t">
            <a:spAutoFit/>
          </a:bodyPr>
          <a:lstStyle/>
          <a:p>
            <a:pPr marL="0" indent="0" algn="l">
              <a:lnSpc>
                <a:spcPct val="128000"/>
              </a:lnSpc>
              <a:buNone/>
            </a:pPr>
            <a:endParaRPr lang="en-US" sz="750" dirty="0"/>
          </a:p>
        </p:txBody>
      </p:sp>
      <p:sp>
        <p:nvSpPr>
          <p:cNvPr id="26" name="Text 20"/>
          <p:cNvSpPr/>
          <p:nvPr/>
        </p:nvSpPr>
        <p:spPr>
          <a:xfrm>
            <a:off x="4893469" y="2664619"/>
            <a:ext cx="65" cy="136191"/>
          </a:xfrm>
          <a:prstGeom prst="rect">
            <a:avLst/>
          </a:prstGeom>
          <a:noFill/>
          <a:ln/>
        </p:spPr>
        <p:txBody>
          <a:bodyPr wrap="none" lIns="0" tIns="0" rIns="0" bIns="0" rtlCol="0" anchor="t">
            <a:spAutoFit/>
          </a:bodyPr>
          <a:lstStyle/>
          <a:p>
            <a:pPr marL="0" indent="0" algn="l">
              <a:lnSpc>
                <a:spcPct val="128000"/>
              </a:lnSpc>
              <a:buNone/>
            </a:pPr>
            <a:endParaRPr lang="en-US" sz="750" dirty="0"/>
          </a:p>
        </p:txBody>
      </p:sp>
      <p:sp>
        <p:nvSpPr>
          <p:cNvPr id="39" name="Text 31"/>
          <p:cNvSpPr/>
          <p:nvPr/>
        </p:nvSpPr>
        <p:spPr>
          <a:xfrm>
            <a:off x="5286375" y="3620988"/>
            <a:ext cx="65" cy="153888"/>
          </a:xfrm>
          <a:prstGeom prst="rect">
            <a:avLst/>
          </a:prstGeom>
          <a:noFill/>
          <a:ln/>
        </p:spPr>
        <p:txBody>
          <a:bodyPr wrap="none" lIns="0" tIns="0" rIns="0" bIns="0" rtlCol="0" anchor="t">
            <a:spAutoFit/>
          </a:bodyPr>
          <a:lstStyle/>
          <a:p>
            <a:pPr marL="0" indent="0" algn="l">
              <a:buNone/>
            </a:pPr>
            <a:endParaRPr lang="en-US" sz="1000" dirty="0"/>
          </a:p>
        </p:txBody>
      </p:sp>
      <p:sp>
        <p:nvSpPr>
          <p:cNvPr id="40" name="Text 32"/>
          <p:cNvSpPr/>
          <p:nvPr/>
        </p:nvSpPr>
        <p:spPr>
          <a:xfrm>
            <a:off x="4893469" y="3993356"/>
            <a:ext cx="171778" cy="145361"/>
          </a:xfrm>
          <a:prstGeom prst="rect">
            <a:avLst/>
          </a:prstGeom>
          <a:noFill/>
          <a:ln/>
        </p:spPr>
        <p:txBody>
          <a:bodyPr wrap="none" lIns="170053" tIns="0" rIns="0" bIns="0" rtlCol="0" anchor="t">
            <a:spAutoFit/>
          </a:bodyPr>
          <a:lstStyle/>
          <a:p>
            <a:pPr marL="0" indent="0" algn="l">
              <a:lnSpc>
                <a:spcPct val="128000"/>
              </a:lnSpc>
              <a:buNone/>
            </a:pPr>
            <a:endParaRPr lang="en-US" sz="800" dirty="0"/>
          </a:p>
        </p:txBody>
      </p:sp>
      <p:sp>
        <p:nvSpPr>
          <p:cNvPr id="41" name="Text 33"/>
          <p:cNvSpPr/>
          <p:nvPr/>
        </p:nvSpPr>
        <p:spPr>
          <a:xfrm>
            <a:off x="4893469" y="4221956"/>
            <a:ext cx="171778" cy="145361"/>
          </a:xfrm>
          <a:prstGeom prst="rect">
            <a:avLst/>
          </a:prstGeom>
          <a:noFill/>
          <a:ln/>
        </p:spPr>
        <p:txBody>
          <a:bodyPr wrap="none" lIns="170053" tIns="0" rIns="0" bIns="0" rtlCol="0" anchor="t">
            <a:spAutoFit/>
          </a:bodyPr>
          <a:lstStyle/>
          <a:p>
            <a:pPr marL="0" indent="0" algn="l">
              <a:lnSpc>
                <a:spcPct val="128000"/>
              </a:lnSpc>
              <a:buNone/>
            </a:pPr>
            <a:endParaRPr lang="en-US" sz="800" dirty="0"/>
          </a:p>
        </p:txBody>
      </p:sp>
      <p:sp>
        <p:nvSpPr>
          <p:cNvPr id="42" name="Text 34"/>
          <p:cNvSpPr/>
          <p:nvPr/>
        </p:nvSpPr>
        <p:spPr>
          <a:xfrm>
            <a:off x="4893469" y="4450556"/>
            <a:ext cx="171778" cy="145361"/>
          </a:xfrm>
          <a:prstGeom prst="rect">
            <a:avLst/>
          </a:prstGeom>
          <a:noFill/>
          <a:ln/>
        </p:spPr>
        <p:txBody>
          <a:bodyPr wrap="none" lIns="170053" tIns="0" rIns="0" bIns="0" rtlCol="0" anchor="t">
            <a:spAutoFit/>
          </a:bodyPr>
          <a:lstStyle/>
          <a:p>
            <a:pPr marL="0" indent="0" algn="l">
              <a:lnSpc>
                <a:spcPct val="128000"/>
              </a:lnSpc>
              <a:buNone/>
            </a:pPr>
            <a:endParaRPr lang="en-US" sz="800" dirty="0"/>
          </a:p>
        </p:txBody>
      </p:sp>
      <p:sp>
        <p:nvSpPr>
          <p:cNvPr id="43" name="Text 35"/>
          <p:cNvSpPr/>
          <p:nvPr/>
        </p:nvSpPr>
        <p:spPr>
          <a:xfrm>
            <a:off x="4893469" y="3993356"/>
            <a:ext cx="65" cy="136191"/>
          </a:xfrm>
          <a:prstGeom prst="rect">
            <a:avLst/>
          </a:prstGeom>
          <a:noFill/>
          <a:ln/>
        </p:spPr>
        <p:txBody>
          <a:bodyPr wrap="none" lIns="0" tIns="0" rIns="0" bIns="0" rtlCol="0" anchor="t">
            <a:spAutoFit/>
          </a:bodyPr>
          <a:lstStyle/>
          <a:p>
            <a:pPr marL="0" indent="0" algn="l">
              <a:lnSpc>
                <a:spcPct val="128000"/>
              </a:lnSpc>
              <a:buNone/>
            </a:pPr>
            <a:endParaRPr lang="en-US" sz="750" dirty="0"/>
          </a:p>
        </p:txBody>
      </p:sp>
      <p:sp>
        <p:nvSpPr>
          <p:cNvPr id="48" name="Shape 0">
            <a:extLst>
              <a:ext uri="{FF2B5EF4-FFF2-40B4-BE49-F238E27FC236}">
                <a16:creationId xmlns:a16="http://schemas.microsoft.com/office/drawing/2014/main" id="{521F9EBB-1777-0894-EEA3-44D2226781FE}"/>
              </a:ext>
            </a:extLst>
          </p:cNvPr>
          <p:cNvSpPr/>
          <p:nvPr/>
        </p:nvSpPr>
        <p:spPr>
          <a:xfrm>
            <a:off x="238630" y="630390"/>
            <a:ext cx="428625" cy="428625"/>
          </a:xfrm>
          <a:prstGeom prst="ellipse">
            <a:avLst/>
          </a:prstGeom>
          <a:solidFill>
            <a:srgbClr val="0F766E">
              <a:alpha val="15000"/>
            </a:srgbClr>
          </a:solidFill>
          <a:ln/>
        </p:spPr>
      </p:sp>
      <p:pic>
        <p:nvPicPr>
          <p:cNvPr id="49" name="Image 1" descr="preencoded.png">
            <a:extLst>
              <a:ext uri="{FF2B5EF4-FFF2-40B4-BE49-F238E27FC236}">
                <a16:creationId xmlns:a16="http://schemas.microsoft.com/office/drawing/2014/main" id="{C634775D-A89B-C15C-2A8E-DBB93D6C6D58}"/>
              </a:ext>
            </a:extLst>
          </p:cNvPr>
          <p:cNvPicPr>
            <a:picLocks noChangeAspect="1"/>
          </p:cNvPicPr>
          <p:nvPr/>
        </p:nvPicPr>
        <p:blipFill>
          <a:blip r:embed="rId4"/>
          <a:stretch>
            <a:fillRect/>
          </a:stretch>
        </p:blipFill>
        <p:spPr>
          <a:xfrm>
            <a:off x="313995" y="734666"/>
            <a:ext cx="284363" cy="252767"/>
          </a:xfrm>
          <a:prstGeom prst="rect">
            <a:avLst/>
          </a:prstGeom>
        </p:spPr>
      </p:pic>
      <p:pic>
        <p:nvPicPr>
          <p:cNvPr id="51" name="Picture 50">
            <a:extLst>
              <a:ext uri="{FF2B5EF4-FFF2-40B4-BE49-F238E27FC236}">
                <a16:creationId xmlns:a16="http://schemas.microsoft.com/office/drawing/2014/main" id="{4B14D4D1-D474-5899-EBF2-4B5E46B1D280}"/>
              </a:ext>
            </a:extLst>
          </p:cNvPr>
          <p:cNvPicPr>
            <a:picLocks noChangeAspect="1"/>
          </p:cNvPicPr>
          <p:nvPr/>
        </p:nvPicPr>
        <p:blipFill>
          <a:blip r:embed="rId5"/>
          <a:stretch>
            <a:fillRect/>
          </a:stretch>
        </p:blipFill>
        <p:spPr>
          <a:xfrm>
            <a:off x="673723" y="671526"/>
            <a:ext cx="7693819" cy="384081"/>
          </a:xfrm>
          <a:prstGeom prst="rect">
            <a:avLst/>
          </a:prstGeom>
        </p:spPr>
      </p:pic>
      <p:sp>
        <p:nvSpPr>
          <p:cNvPr id="52" name="TextBox 51">
            <a:extLst>
              <a:ext uri="{FF2B5EF4-FFF2-40B4-BE49-F238E27FC236}">
                <a16:creationId xmlns:a16="http://schemas.microsoft.com/office/drawing/2014/main" id="{4A6A81F6-0F96-7024-073B-86E503BB10D6}"/>
              </a:ext>
            </a:extLst>
          </p:cNvPr>
          <p:cNvSpPr txBox="1"/>
          <p:nvPr/>
        </p:nvSpPr>
        <p:spPr>
          <a:xfrm>
            <a:off x="738888" y="139112"/>
            <a:ext cx="6862342" cy="646331"/>
          </a:xfrm>
          <a:prstGeom prst="rect">
            <a:avLst/>
          </a:prstGeom>
          <a:noFill/>
        </p:spPr>
        <p:txBody>
          <a:bodyPr wrap="square" rtlCol="0">
            <a:spAutoFit/>
          </a:bodyPr>
          <a:lstStyle/>
          <a:p>
            <a:r>
              <a:rPr lang="en-US" b="1" dirty="0">
                <a:solidFill>
                  <a:srgbClr val="001B3A"/>
                </a:solidFill>
                <a:latin typeface="Montserrat Black" pitchFamily="34" charset="0"/>
              </a:rPr>
              <a:t>MARKETING RESEARCH: </a:t>
            </a:r>
            <a:r>
              <a:rPr lang="en-US" b="1" dirty="0">
                <a:solidFill>
                  <a:srgbClr val="001B3A"/>
                </a:solidFill>
                <a:latin typeface="Montserrat Black" pitchFamily="34" charset="0"/>
                <a:ea typeface="Montserrat Black" pitchFamily="34" charset="-122"/>
                <a:cs typeface="Montserrat Black" pitchFamily="34" charset="-120"/>
              </a:rPr>
              <a:t>COMPETITORS ANALYSIS</a:t>
            </a:r>
            <a:endParaRPr lang="en-US" dirty="0"/>
          </a:p>
          <a:p>
            <a:endParaRPr lang="en-US" b="1" dirty="0">
              <a:solidFill>
                <a:srgbClr val="001B3A"/>
              </a:solidFill>
              <a:latin typeface="Montserrat Black" pitchFamily="34" charset="0"/>
            </a:endParaRPr>
          </a:p>
        </p:txBody>
      </p:sp>
      <p:pic>
        <p:nvPicPr>
          <p:cNvPr id="55" name="Image 1" descr="preencoded.png">
            <a:extLst>
              <a:ext uri="{FF2B5EF4-FFF2-40B4-BE49-F238E27FC236}">
                <a16:creationId xmlns:a16="http://schemas.microsoft.com/office/drawing/2014/main" id="{5CEB25BB-F69C-2A47-5238-1771594BE39C}"/>
              </a:ext>
            </a:extLst>
          </p:cNvPr>
          <p:cNvPicPr>
            <a:picLocks noChangeAspect="1"/>
          </p:cNvPicPr>
          <p:nvPr/>
        </p:nvPicPr>
        <p:blipFill>
          <a:blip r:embed="rId6"/>
          <a:stretch>
            <a:fillRect/>
          </a:stretch>
        </p:blipFill>
        <p:spPr>
          <a:xfrm>
            <a:off x="307528" y="166620"/>
            <a:ext cx="290830" cy="290830"/>
          </a:xfrm>
          <a:prstGeom prst="rect">
            <a:avLst/>
          </a:prstGeom>
        </p:spPr>
      </p:pic>
      <p:sp>
        <p:nvSpPr>
          <p:cNvPr id="56" name="Shape 2">
            <a:extLst>
              <a:ext uri="{FF2B5EF4-FFF2-40B4-BE49-F238E27FC236}">
                <a16:creationId xmlns:a16="http://schemas.microsoft.com/office/drawing/2014/main" id="{94D9C2A9-C181-8F28-A676-7E3CDE45A20C}"/>
              </a:ext>
            </a:extLst>
          </p:cNvPr>
          <p:cNvSpPr/>
          <p:nvPr/>
        </p:nvSpPr>
        <p:spPr>
          <a:xfrm>
            <a:off x="238630" y="1244991"/>
            <a:ext cx="8501748" cy="3728190"/>
          </a:xfrm>
          <a:prstGeom prst="rect">
            <a:avLst/>
          </a:prstGeom>
          <a:solidFill>
            <a:srgbClr val="FFFFFF"/>
          </a:solidFill>
          <a:ln/>
        </p:spPr>
        <p:txBody>
          <a:bodyPr/>
          <a:lstStyle/>
          <a:p>
            <a:r>
              <a:rPr lang="en-US" sz="900" dirty="0">
                <a:solidFill>
                  <a:srgbClr val="001B3A"/>
                </a:solidFill>
                <a:latin typeface="+mj-lt"/>
              </a:rPr>
              <a:t>We analyzed four competitors and created a comparison table covering pricing, locations, and digital presence. We evaluated their Facebook, Instagram, TikTok, and websites to identify their strengths and weaknesses. Based on these insights, we developed our marketing strategy.</a:t>
            </a:r>
          </a:p>
          <a:p>
            <a:endParaRPr lang="en-US" sz="900" dirty="0">
              <a:solidFill>
                <a:srgbClr val="001B3A"/>
              </a:solidFill>
              <a:latin typeface="+mj-lt"/>
            </a:endParaRPr>
          </a:p>
          <a:p>
            <a:r>
              <a:rPr lang="en-US" sz="900" dirty="0">
                <a:solidFill>
                  <a:srgbClr val="001B3A"/>
                </a:solidFill>
                <a:latin typeface="+mj-lt"/>
              </a:rPr>
              <a:t>Key Insights</a:t>
            </a:r>
          </a:p>
          <a:p>
            <a:r>
              <a:rPr lang="en-US" sz="900" dirty="0">
                <a:solidFill>
                  <a:srgbClr val="001B3A"/>
                </a:solidFill>
                <a:latin typeface="+mj-lt"/>
              </a:rPr>
              <a:t>Pricing: Our prices offer good value for money, making us competitive in the market. </a:t>
            </a:r>
          </a:p>
          <a:p>
            <a:r>
              <a:rPr lang="en-US" sz="900" dirty="0">
                <a:solidFill>
                  <a:srgbClr val="001B3A"/>
                </a:solidFill>
                <a:latin typeface="+mj-lt"/>
              </a:rPr>
              <a:t>       Facebook: </a:t>
            </a:r>
          </a:p>
          <a:p>
            <a:pPr lvl="1"/>
            <a:r>
              <a:rPr lang="en-US" sz="900" dirty="0">
                <a:solidFill>
                  <a:srgbClr val="001B3A"/>
                </a:solidFill>
                <a:latin typeface="+mj-lt"/>
              </a:rPr>
              <a:t>Strong optimization with all channels well integrated. </a:t>
            </a:r>
          </a:p>
          <a:p>
            <a:pPr lvl="1"/>
            <a:r>
              <a:rPr lang="en-US" sz="900" dirty="0">
                <a:solidFill>
                  <a:srgbClr val="001B3A"/>
                </a:solidFill>
                <a:latin typeface="+mj-lt"/>
              </a:rPr>
              <a:t>Weakness: Limited content, with most posts focused only on selling. </a:t>
            </a:r>
          </a:p>
          <a:p>
            <a:r>
              <a:rPr lang="en-US" sz="900" dirty="0">
                <a:solidFill>
                  <a:srgbClr val="001B3A"/>
                </a:solidFill>
                <a:latin typeface="+mj-lt"/>
              </a:rPr>
              <a:t>       Instagram: </a:t>
            </a:r>
          </a:p>
          <a:p>
            <a:pPr lvl="1"/>
            <a:r>
              <a:rPr lang="en-US" sz="900" dirty="0">
                <a:solidFill>
                  <a:srgbClr val="001B3A"/>
                </a:solidFill>
                <a:latin typeface="+mj-lt"/>
              </a:rPr>
              <a:t>Well-optimized profile. </a:t>
            </a:r>
          </a:p>
          <a:p>
            <a:pPr lvl="1"/>
            <a:r>
              <a:rPr lang="en-US" sz="900" dirty="0">
                <a:solidFill>
                  <a:srgbClr val="001B3A"/>
                </a:solidFill>
                <a:latin typeface="+mj-lt"/>
              </a:rPr>
              <a:t>Weaknesses: Highlights need better organization, and the content is mainly sales-oriented. </a:t>
            </a:r>
          </a:p>
          <a:p>
            <a:r>
              <a:rPr lang="en-US" sz="900" dirty="0">
                <a:solidFill>
                  <a:srgbClr val="001B3A"/>
                </a:solidFill>
                <a:latin typeface="+mj-lt"/>
              </a:rPr>
              <a:t>      TikTok: </a:t>
            </a:r>
          </a:p>
          <a:p>
            <a:pPr lvl="1"/>
            <a:r>
              <a:rPr lang="en-US" sz="900" dirty="0">
                <a:solidFill>
                  <a:srgbClr val="001B3A"/>
                </a:solidFill>
                <a:latin typeface="+mj-lt"/>
              </a:rPr>
              <a:t>Minimal presence across competitors. </a:t>
            </a:r>
          </a:p>
          <a:p>
            <a:pPr lvl="1"/>
            <a:r>
              <a:rPr lang="en-US" sz="900" dirty="0">
                <a:solidFill>
                  <a:srgbClr val="001B3A"/>
                </a:solidFill>
                <a:latin typeface="+mj-lt"/>
              </a:rPr>
              <a:t>This creates an opportunity for us to build a strong TikTok strategy and gain a competitive advantage. </a:t>
            </a:r>
          </a:p>
          <a:p>
            <a:r>
              <a:rPr lang="en-US" sz="900" dirty="0">
                <a:solidFill>
                  <a:srgbClr val="001B3A"/>
                </a:solidFill>
                <a:latin typeface="+mj-lt"/>
              </a:rPr>
              <a:t>       Website: </a:t>
            </a:r>
          </a:p>
          <a:p>
            <a:pPr lvl="1"/>
            <a:r>
              <a:rPr lang="en-US" sz="900" dirty="0">
                <a:solidFill>
                  <a:srgbClr val="001B3A"/>
                </a:solidFill>
                <a:latin typeface="+mj-lt"/>
              </a:rPr>
              <a:t>Strengths: </a:t>
            </a:r>
          </a:p>
          <a:p>
            <a:pPr lvl="2"/>
            <a:r>
              <a:rPr lang="en-US" sz="900" dirty="0">
                <a:solidFill>
                  <a:srgbClr val="001B3A"/>
                </a:solidFill>
                <a:latin typeface="+mj-lt"/>
              </a:rPr>
              <a:t>Multiple payment methods. </a:t>
            </a:r>
          </a:p>
          <a:p>
            <a:pPr lvl="2"/>
            <a:r>
              <a:rPr lang="en-US" sz="900" dirty="0">
                <a:solidFill>
                  <a:srgbClr val="001B3A"/>
                </a:solidFill>
                <a:latin typeface="+mj-lt"/>
              </a:rPr>
              <a:t>Saved delivery location for a faster checkout experience. </a:t>
            </a:r>
          </a:p>
          <a:p>
            <a:pPr lvl="1"/>
            <a:r>
              <a:rPr lang="en-US" sz="900" dirty="0">
                <a:solidFill>
                  <a:srgbClr val="001B3A"/>
                </a:solidFill>
                <a:latin typeface="+mj-lt"/>
              </a:rPr>
              <a:t>Weaknesses: </a:t>
            </a:r>
          </a:p>
          <a:p>
            <a:pPr lvl="2"/>
            <a:r>
              <a:rPr lang="en-US" sz="900" dirty="0">
                <a:solidFill>
                  <a:srgbClr val="001B3A"/>
                </a:solidFill>
                <a:latin typeface="+mj-lt"/>
              </a:rPr>
              <a:t>No offline store locations displayed. </a:t>
            </a:r>
          </a:p>
          <a:p>
            <a:pPr lvl="2"/>
            <a:r>
              <a:rPr lang="en-US" sz="900" dirty="0">
                <a:solidFill>
                  <a:srgbClr val="001B3A"/>
                </a:solidFill>
                <a:latin typeface="+mj-lt"/>
              </a:rPr>
              <a:t>No product reviews. </a:t>
            </a:r>
          </a:p>
          <a:p>
            <a:pPr lvl="2"/>
            <a:r>
              <a:rPr lang="en-US" sz="900" dirty="0">
                <a:solidFill>
                  <a:srgbClr val="001B3A"/>
                </a:solidFill>
                <a:latin typeface="+mj-lt"/>
              </a:rPr>
              <a:t>No related products section. </a:t>
            </a:r>
          </a:p>
          <a:p>
            <a:pPr lvl="2"/>
            <a:r>
              <a:rPr lang="en-US" sz="900" dirty="0">
                <a:solidFill>
                  <a:srgbClr val="001B3A"/>
                </a:solidFill>
                <a:latin typeface="+mj-lt"/>
              </a:rPr>
              <a:t>Mixed Arabic and English language, creating an inconsistent user experience. </a:t>
            </a:r>
          </a:p>
          <a:p>
            <a:r>
              <a:rPr lang="en-US" sz="900" dirty="0">
                <a:solidFill>
                  <a:srgbClr val="001B3A"/>
                </a:solidFill>
                <a:latin typeface="+mj-lt"/>
              </a:rPr>
              <a:t>Conclusion:</a:t>
            </a:r>
            <a:br>
              <a:rPr lang="en-US" sz="900" dirty="0">
                <a:solidFill>
                  <a:srgbClr val="001B3A"/>
                </a:solidFill>
                <a:latin typeface="+mj-lt"/>
              </a:rPr>
            </a:br>
            <a:r>
              <a:rPr lang="en-US" sz="900" dirty="0">
                <a:solidFill>
                  <a:srgbClr val="001B3A"/>
                </a:solidFill>
                <a:latin typeface="+mj-lt"/>
              </a:rPr>
              <a:t>These insights helped us identify opportunities for improvement and build a stronger digital marketing strategy for Glory Cookware.</a:t>
            </a:r>
          </a:p>
          <a:p>
            <a:endParaRPr lang="en-US" sz="750" dirty="0">
              <a:solidFill>
                <a:srgbClr val="001B3A"/>
              </a:solidFill>
              <a:latin typeface="Montserrat Medium" pitchFamily="34" charset="0"/>
            </a:endParaRPr>
          </a:p>
          <a:p>
            <a:endParaRPr lang="en-US" dirty="0"/>
          </a:p>
        </p:txBody>
      </p:sp>
      <p:pic>
        <p:nvPicPr>
          <p:cNvPr id="57" name="Image 5" descr="preencoded.png">
            <a:extLst>
              <a:ext uri="{FF2B5EF4-FFF2-40B4-BE49-F238E27FC236}">
                <a16:creationId xmlns:a16="http://schemas.microsoft.com/office/drawing/2014/main" id="{F3A3CA63-69B9-6C10-4A33-E4C7B1101662}"/>
              </a:ext>
            </a:extLst>
          </p:cNvPr>
          <p:cNvPicPr>
            <a:picLocks noChangeAspect="1"/>
          </p:cNvPicPr>
          <p:nvPr/>
        </p:nvPicPr>
        <p:blipFill>
          <a:blip r:embed="rId7"/>
          <a:stretch>
            <a:fillRect/>
          </a:stretch>
        </p:blipFill>
        <p:spPr>
          <a:xfrm>
            <a:off x="367217" y="2412039"/>
            <a:ext cx="171450" cy="128588"/>
          </a:xfrm>
          <a:prstGeom prst="rect">
            <a:avLst/>
          </a:prstGeom>
        </p:spPr>
      </p:pic>
      <p:pic>
        <p:nvPicPr>
          <p:cNvPr id="58" name="Image 4" descr="preencoded.png">
            <a:extLst>
              <a:ext uri="{FF2B5EF4-FFF2-40B4-BE49-F238E27FC236}">
                <a16:creationId xmlns:a16="http://schemas.microsoft.com/office/drawing/2014/main" id="{02F45F26-F585-B541-EE45-3779C09E2C36}"/>
              </a:ext>
            </a:extLst>
          </p:cNvPr>
          <p:cNvPicPr>
            <a:picLocks noChangeAspect="1"/>
          </p:cNvPicPr>
          <p:nvPr/>
        </p:nvPicPr>
        <p:blipFill>
          <a:blip r:embed="rId8"/>
          <a:stretch>
            <a:fillRect/>
          </a:stretch>
        </p:blipFill>
        <p:spPr>
          <a:xfrm>
            <a:off x="352146" y="1994314"/>
            <a:ext cx="171450" cy="128588"/>
          </a:xfrm>
          <a:prstGeom prst="rect">
            <a:avLst/>
          </a:prstGeom>
        </p:spPr>
      </p:pic>
      <p:pic>
        <p:nvPicPr>
          <p:cNvPr id="59" name="Image 3" descr="preencoded.png">
            <a:extLst>
              <a:ext uri="{FF2B5EF4-FFF2-40B4-BE49-F238E27FC236}">
                <a16:creationId xmlns:a16="http://schemas.microsoft.com/office/drawing/2014/main" id="{F9735ECF-6FFA-5A35-B2C1-DD3A03DE461F}"/>
              </a:ext>
            </a:extLst>
          </p:cNvPr>
          <p:cNvPicPr>
            <a:picLocks noChangeAspect="1"/>
          </p:cNvPicPr>
          <p:nvPr/>
        </p:nvPicPr>
        <p:blipFill>
          <a:blip r:embed="rId9"/>
          <a:stretch>
            <a:fillRect/>
          </a:stretch>
        </p:blipFill>
        <p:spPr>
          <a:xfrm>
            <a:off x="352146" y="3225656"/>
            <a:ext cx="171450" cy="1285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428625" cy="428625"/>
          </a:xfrm>
          <a:prstGeom prst="ellipse">
            <a:avLst/>
          </a:prstGeom>
          <a:solidFill>
            <a:srgbClr val="0F766E">
              <a:alpha val="15000"/>
            </a:srgbClr>
          </a:solidFill>
          <a:ln/>
        </p:spPr>
      </p:sp>
      <p:sp>
        <p:nvSpPr>
          <p:cNvPr id="6" name="Shape 2"/>
          <p:cNvSpPr/>
          <p:nvPr/>
        </p:nvSpPr>
        <p:spPr>
          <a:xfrm>
            <a:off x="379095" y="1000125"/>
            <a:ext cx="4036219" cy="1857375"/>
          </a:xfrm>
          <a:prstGeom prst="rect">
            <a:avLst/>
          </a:prstGeom>
          <a:solidFill>
            <a:srgbClr val="FFFFFF"/>
          </a:solidFill>
          <a:ln/>
        </p:spPr>
        <p:txBody>
          <a:bodyPr/>
          <a:lstStyle/>
          <a:p>
            <a:endParaRPr lang="en-US" dirty="0"/>
          </a:p>
        </p:txBody>
      </p:sp>
      <p:sp>
        <p:nvSpPr>
          <p:cNvPr id="7" name="Shape 3"/>
          <p:cNvSpPr/>
          <p:nvPr/>
        </p:nvSpPr>
        <p:spPr>
          <a:xfrm>
            <a:off x="642938" y="1214438"/>
            <a:ext cx="285750" cy="285750"/>
          </a:xfrm>
          <a:prstGeom prst="ellipse">
            <a:avLst/>
          </a:prstGeom>
          <a:solidFill>
            <a:srgbClr val="0F766E">
              <a:alpha val="15000"/>
            </a:srgbClr>
          </a:solidFill>
          <a:ln/>
        </p:spPr>
      </p:sp>
      <p:pic>
        <p:nvPicPr>
          <p:cNvPr id="8" name="Image 2" descr="preencoded.png"/>
          <p:cNvPicPr>
            <a:picLocks noChangeAspect="1"/>
          </p:cNvPicPr>
          <p:nvPr/>
        </p:nvPicPr>
        <p:blipFill>
          <a:blip r:embed="rId4"/>
          <a:stretch>
            <a:fillRect/>
          </a:stretch>
        </p:blipFill>
        <p:spPr>
          <a:xfrm>
            <a:off x="729555" y="1293019"/>
            <a:ext cx="112514" cy="128588"/>
          </a:xfrm>
          <a:prstGeom prst="rect">
            <a:avLst/>
          </a:prstGeom>
        </p:spPr>
      </p:pic>
      <p:sp>
        <p:nvSpPr>
          <p:cNvPr id="9" name="Text 4"/>
          <p:cNvSpPr/>
          <p:nvPr/>
        </p:nvSpPr>
        <p:spPr>
          <a:xfrm>
            <a:off x="1035844" y="1270695"/>
            <a:ext cx="916186" cy="173236"/>
          </a:xfrm>
          <a:prstGeom prst="rect">
            <a:avLst/>
          </a:prstGeom>
          <a:noFill/>
          <a:ln/>
        </p:spPr>
        <p:txBody>
          <a:bodyPr wrap="none" lIns="0" tIns="0" rIns="0" bIns="0" rtlCol="0" anchor="t">
            <a:spAutoFit/>
          </a:bodyPr>
          <a:lstStyle/>
          <a:p>
            <a:pPr marL="0" indent="0" algn="l">
              <a:buNone/>
            </a:pPr>
            <a:r>
              <a:rPr lang="en-US" sz="1000" b="1" dirty="0">
                <a:solidFill>
                  <a:srgbClr val="0F766E"/>
                </a:solidFill>
                <a:latin typeface="Montserrat Black" pitchFamily="34" charset="0"/>
                <a:ea typeface="Montserrat Black" pitchFamily="34" charset="-122"/>
                <a:cs typeface="Montserrat Black" pitchFamily="34" charset="-120"/>
              </a:rPr>
              <a:t>STRENGTHS</a:t>
            </a:r>
            <a:endParaRPr lang="en-US" sz="1000" dirty="0"/>
          </a:p>
        </p:txBody>
      </p:sp>
      <p:sp>
        <p:nvSpPr>
          <p:cNvPr id="10" name="Text 5"/>
          <p:cNvSpPr/>
          <p:nvPr/>
        </p:nvSpPr>
        <p:spPr>
          <a:xfrm>
            <a:off x="642938" y="1643063"/>
            <a:ext cx="1508618" cy="135871"/>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Excellent customer service.</a:t>
            </a:r>
            <a:endParaRPr lang="en-US" sz="750" dirty="0"/>
          </a:p>
        </p:txBody>
      </p:sp>
      <p:sp>
        <p:nvSpPr>
          <p:cNvPr id="11" name="Text 6"/>
          <p:cNvSpPr/>
          <p:nvPr/>
        </p:nvSpPr>
        <p:spPr>
          <a:xfrm>
            <a:off x="642938" y="1860221"/>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Easy website navigation and high-quality visual content.</a:t>
            </a:r>
            <a:endParaRPr lang="en-US" sz="750" dirty="0"/>
          </a:p>
        </p:txBody>
      </p:sp>
      <p:sp>
        <p:nvSpPr>
          <p:cNvPr id="12" name="Text 7"/>
          <p:cNvSpPr/>
          <p:nvPr/>
        </p:nvSpPr>
        <p:spPr>
          <a:xfrm>
            <a:off x="642938" y="2077380"/>
            <a:ext cx="1454116" cy="274562"/>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Distinctive product colors.</a:t>
            </a:r>
          </a:p>
          <a:p>
            <a:pPr>
              <a:lnSpc>
                <a:spcPct val="128000"/>
              </a:lnSpc>
            </a:pPr>
            <a:r>
              <a:rPr lang="en-US" sz="700" dirty="0">
                <a:solidFill>
                  <a:srgbClr val="001B3A"/>
                </a:solidFill>
                <a:latin typeface="Montserrat Medium" pitchFamily="34" charset="0"/>
                <a:ea typeface="Montserrat Medium" pitchFamily="34" charset="-122"/>
                <a:cs typeface="Montserrat Medium" pitchFamily="34" charset="-120"/>
              </a:rPr>
              <a:t>factory direct dealing .</a:t>
            </a:r>
            <a:endParaRPr lang="en-US" sz="750" dirty="0"/>
          </a:p>
        </p:txBody>
      </p:sp>
      <p:sp>
        <p:nvSpPr>
          <p:cNvPr id="13" name="Shape 8"/>
          <p:cNvSpPr/>
          <p:nvPr/>
        </p:nvSpPr>
        <p:spPr>
          <a:xfrm>
            <a:off x="4679156" y="1000125"/>
            <a:ext cx="4036219" cy="1857375"/>
          </a:xfrm>
          <a:prstGeom prst="rect">
            <a:avLst/>
          </a:prstGeom>
          <a:solidFill>
            <a:srgbClr val="FFFFFF"/>
          </a:solidFill>
          <a:ln/>
        </p:spPr>
      </p:sp>
      <p:sp>
        <p:nvSpPr>
          <p:cNvPr id="14" name="Text 9"/>
          <p:cNvSpPr/>
          <p:nvPr/>
        </p:nvSpPr>
        <p:spPr>
          <a:xfrm>
            <a:off x="642938" y="1643063"/>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15" name="Text 10"/>
          <p:cNvSpPr/>
          <p:nvPr/>
        </p:nvSpPr>
        <p:spPr>
          <a:xfrm>
            <a:off x="642938" y="1860221"/>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16" name="Text 11"/>
          <p:cNvSpPr/>
          <p:nvPr/>
        </p:nvSpPr>
        <p:spPr>
          <a:xfrm>
            <a:off x="642938" y="2077380"/>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17" name="Shape 12"/>
          <p:cNvSpPr/>
          <p:nvPr/>
        </p:nvSpPr>
        <p:spPr>
          <a:xfrm>
            <a:off x="4893469" y="1214438"/>
            <a:ext cx="285750" cy="285750"/>
          </a:xfrm>
          <a:prstGeom prst="ellipse">
            <a:avLst/>
          </a:prstGeom>
          <a:solidFill>
            <a:srgbClr val="0F766E">
              <a:alpha val="15000"/>
            </a:srgbClr>
          </a:solidFill>
          <a:ln/>
        </p:spPr>
      </p:sp>
      <p:pic>
        <p:nvPicPr>
          <p:cNvPr id="18" name="Image 3" descr="preencoded.png"/>
          <p:cNvPicPr>
            <a:picLocks noChangeAspect="1"/>
          </p:cNvPicPr>
          <p:nvPr/>
        </p:nvPicPr>
        <p:blipFill>
          <a:blip r:embed="rId5"/>
          <a:stretch>
            <a:fillRect/>
          </a:stretch>
        </p:blipFill>
        <p:spPr>
          <a:xfrm>
            <a:off x="4980087" y="1293019"/>
            <a:ext cx="112514" cy="128588"/>
          </a:xfrm>
          <a:prstGeom prst="rect">
            <a:avLst/>
          </a:prstGeom>
        </p:spPr>
      </p:pic>
      <p:sp>
        <p:nvSpPr>
          <p:cNvPr id="19" name="Text 13"/>
          <p:cNvSpPr/>
          <p:nvPr/>
        </p:nvSpPr>
        <p:spPr>
          <a:xfrm>
            <a:off x="5286375" y="1270695"/>
            <a:ext cx="1080492" cy="173236"/>
          </a:xfrm>
          <a:prstGeom prst="rect">
            <a:avLst/>
          </a:prstGeom>
          <a:noFill/>
          <a:ln/>
        </p:spPr>
        <p:txBody>
          <a:bodyPr wrap="none" lIns="0" tIns="0" rIns="0" bIns="0" rtlCol="0" anchor="t">
            <a:spAutoFit/>
          </a:bodyPr>
          <a:lstStyle/>
          <a:p>
            <a:pPr marL="0" indent="0" algn="l">
              <a:buNone/>
            </a:pPr>
            <a:r>
              <a:rPr lang="en-US" sz="1000" b="1" dirty="0">
                <a:solidFill>
                  <a:srgbClr val="0F766E"/>
                </a:solidFill>
                <a:latin typeface="Montserrat Black" pitchFamily="34" charset="0"/>
                <a:ea typeface="Montserrat Black" pitchFamily="34" charset="-122"/>
                <a:cs typeface="Montserrat Black" pitchFamily="34" charset="-120"/>
              </a:rPr>
              <a:t>WEAKNESSES</a:t>
            </a:r>
            <a:endParaRPr lang="en-US" sz="1000" dirty="0"/>
          </a:p>
        </p:txBody>
      </p:sp>
      <p:sp>
        <p:nvSpPr>
          <p:cNvPr id="20" name="Text 14"/>
          <p:cNvSpPr/>
          <p:nvPr/>
        </p:nvSpPr>
        <p:spPr>
          <a:xfrm>
            <a:off x="4893469" y="1643063"/>
            <a:ext cx="2212337" cy="135871"/>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Inconsistent social media response times.</a:t>
            </a:r>
            <a:endParaRPr lang="en-US" sz="750" dirty="0"/>
          </a:p>
        </p:txBody>
      </p:sp>
      <p:sp>
        <p:nvSpPr>
          <p:cNvPr id="21" name="Text 15"/>
          <p:cNvSpPr/>
          <p:nvPr/>
        </p:nvSpPr>
        <p:spPr>
          <a:xfrm>
            <a:off x="4893469" y="1860221"/>
            <a:ext cx="3368102" cy="135871"/>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Lack of offline branch addresses and product reviews on website.</a:t>
            </a:r>
            <a:endParaRPr lang="en-US" sz="750" dirty="0"/>
          </a:p>
        </p:txBody>
      </p:sp>
      <p:sp>
        <p:nvSpPr>
          <p:cNvPr id="22" name="Text 16"/>
          <p:cNvSpPr/>
          <p:nvPr/>
        </p:nvSpPr>
        <p:spPr>
          <a:xfrm>
            <a:off x="4893469" y="2077380"/>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Content is primarily sales-focused without customer listening.</a:t>
            </a:r>
            <a:endParaRPr lang="en-US" sz="750" dirty="0"/>
          </a:p>
        </p:txBody>
      </p:sp>
      <p:sp>
        <p:nvSpPr>
          <p:cNvPr id="23" name="Shape 17"/>
          <p:cNvSpPr/>
          <p:nvPr/>
        </p:nvSpPr>
        <p:spPr>
          <a:xfrm>
            <a:off x="428625" y="3071813"/>
            <a:ext cx="4036219" cy="1857375"/>
          </a:xfrm>
          <a:prstGeom prst="rect">
            <a:avLst/>
          </a:prstGeom>
          <a:solidFill>
            <a:srgbClr val="FFFFFF"/>
          </a:solidFill>
          <a:ln/>
        </p:spPr>
      </p:sp>
      <p:sp>
        <p:nvSpPr>
          <p:cNvPr id="24" name="Text 18"/>
          <p:cNvSpPr/>
          <p:nvPr/>
        </p:nvSpPr>
        <p:spPr>
          <a:xfrm>
            <a:off x="4893469" y="1643063"/>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25" name="Text 19"/>
          <p:cNvSpPr/>
          <p:nvPr/>
        </p:nvSpPr>
        <p:spPr>
          <a:xfrm>
            <a:off x="4893469" y="1860221"/>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26" name="Text 20"/>
          <p:cNvSpPr/>
          <p:nvPr/>
        </p:nvSpPr>
        <p:spPr>
          <a:xfrm>
            <a:off x="4893469" y="2077380"/>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27" name="Shape 21"/>
          <p:cNvSpPr/>
          <p:nvPr/>
        </p:nvSpPr>
        <p:spPr>
          <a:xfrm>
            <a:off x="642938" y="3286125"/>
            <a:ext cx="285750" cy="285750"/>
          </a:xfrm>
          <a:prstGeom prst="ellipse">
            <a:avLst/>
          </a:prstGeom>
          <a:solidFill>
            <a:srgbClr val="0F766E">
              <a:alpha val="15000"/>
            </a:srgbClr>
          </a:solidFill>
          <a:ln/>
        </p:spPr>
      </p:sp>
      <p:pic>
        <p:nvPicPr>
          <p:cNvPr id="28" name="Image 4" descr="preencoded.png"/>
          <p:cNvPicPr>
            <a:picLocks noChangeAspect="1"/>
          </p:cNvPicPr>
          <p:nvPr/>
        </p:nvPicPr>
        <p:blipFill>
          <a:blip r:embed="rId6"/>
          <a:stretch>
            <a:fillRect/>
          </a:stretch>
        </p:blipFill>
        <p:spPr>
          <a:xfrm>
            <a:off x="737592" y="3364706"/>
            <a:ext cx="96441" cy="128588"/>
          </a:xfrm>
          <a:prstGeom prst="rect">
            <a:avLst/>
          </a:prstGeom>
        </p:spPr>
      </p:pic>
      <p:sp>
        <p:nvSpPr>
          <p:cNvPr id="29" name="Text 22"/>
          <p:cNvSpPr/>
          <p:nvPr/>
        </p:nvSpPr>
        <p:spPr>
          <a:xfrm>
            <a:off x="1035844" y="3342382"/>
            <a:ext cx="1259086" cy="173236"/>
          </a:xfrm>
          <a:prstGeom prst="rect">
            <a:avLst/>
          </a:prstGeom>
          <a:noFill/>
          <a:ln/>
        </p:spPr>
        <p:txBody>
          <a:bodyPr wrap="none" lIns="0" tIns="0" rIns="0" bIns="0" rtlCol="0" anchor="t">
            <a:spAutoFit/>
          </a:bodyPr>
          <a:lstStyle/>
          <a:p>
            <a:pPr marL="0" indent="0" algn="l">
              <a:buNone/>
            </a:pPr>
            <a:r>
              <a:rPr lang="en-US" sz="1000" b="1" dirty="0">
                <a:solidFill>
                  <a:srgbClr val="0F766E"/>
                </a:solidFill>
                <a:latin typeface="Montserrat Black" pitchFamily="34" charset="0"/>
                <a:ea typeface="Montserrat Black" pitchFamily="34" charset="-122"/>
                <a:cs typeface="Montserrat Black" pitchFamily="34" charset="-120"/>
              </a:rPr>
              <a:t>OPPORTUNITIES</a:t>
            </a:r>
            <a:endParaRPr lang="en-US" sz="1000" dirty="0"/>
          </a:p>
        </p:txBody>
      </p:sp>
      <p:sp>
        <p:nvSpPr>
          <p:cNvPr id="30" name="Text 23"/>
          <p:cNvSpPr/>
          <p:nvPr/>
        </p:nvSpPr>
        <p:spPr>
          <a:xfrm>
            <a:off x="642938" y="3714750"/>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Targeting the bridal market with specialized bundles.</a:t>
            </a:r>
            <a:endParaRPr lang="en-US" sz="750" dirty="0"/>
          </a:p>
        </p:txBody>
      </p:sp>
      <p:sp>
        <p:nvSpPr>
          <p:cNvPr id="31" name="Text 24"/>
          <p:cNvSpPr/>
          <p:nvPr/>
        </p:nvSpPr>
        <p:spPr>
          <a:xfrm>
            <a:off x="642938" y="3931909"/>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Partnerships with restaurants and TV cooking programs.</a:t>
            </a:r>
            <a:endParaRPr lang="en-US" sz="750" dirty="0"/>
          </a:p>
        </p:txBody>
      </p:sp>
      <p:sp>
        <p:nvSpPr>
          <p:cNvPr id="32" name="Text 25"/>
          <p:cNvSpPr/>
          <p:nvPr/>
        </p:nvSpPr>
        <p:spPr>
          <a:xfrm>
            <a:off x="642938" y="4149068"/>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Seasonal campaigns for Ramadan and Mother's Day.</a:t>
            </a:r>
            <a:endParaRPr lang="en-US" sz="750" dirty="0"/>
          </a:p>
        </p:txBody>
      </p:sp>
      <p:sp>
        <p:nvSpPr>
          <p:cNvPr id="33" name="Shape 26"/>
          <p:cNvSpPr/>
          <p:nvPr/>
        </p:nvSpPr>
        <p:spPr>
          <a:xfrm>
            <a:off x="4679156" y="3071813"/>
            <a:ext cx="4036219" cy="1857375"/>
          </a:xfrm>
          <a:prstGeom prst="rect">
            <a:avLst/>
          </a:prstGeom>
          <a:solidFill>
            <a:srgbClr val="FFFFFF"/>
          </a:solidFill>
          <a:ln/>
        </p:spPr>
      </p:sp>
      <p:sp>
        <p:nvSpPr>
          <p:cNvPr id="34" name="Text 27"/>
          <p:cNvSpPr/>
          <p:nvPr/>
        </p:nvSpPr>
        <p:spPr>
          <a:xfrm>
            <a:off x="642938" y="3714750"/>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35" name="Text 28"/>
          <p:cNvSpPr/>
          <p:nvPr/>
        </p:nvSpPr>
        <p:spPr>
          <a:xfrm>
            <a:off x="642938" y="3931909"/>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36" name="Text 29"/>
          <p:cNvSpPr/>
          <p:nvPr/>
        </p:nvSpPr>
        <p:spPr>
          <a:xfrm>
            <a:off x="642938" y="4149068"/>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37" name="Shape 30"/>
          <p:cNvSpPr/>
          <p:nvPr/>
        </p:nvSpPr>
        <p:spPr>
          <a:xfrm>
            <a:off x="4893469" y="3286125"/>
            <a:ext cx="285750" cy="285750"/>
          </a:xfrm>
          <a:prstGeom prst="ellipse">
            <a:avLst/>
          </a:prstGeom>
          <a:solidFill>
            <a:srgbClr val="0F766E">
              <a:alpha val="15000"/>
            </a:srgbClr>
          </a:solidFill>
          <a:ln/>
        </p:spPr>
      </p:sp>
      <p:pic>
        <p:nvPicPr>
          <p:cNvPr id="38" name="Image 5" descr="preencoded.png"/>
          <p:cNvPicPr>
            <a:picLocks noChangeAspect="1"/>
          </p:cNvPicPr>
          <p:nvPr/>
        </p:nvPicPr>
        <p:blipFill>
          <a:blip r:embed="rId7"/>
          <a:stretch>
            <a:fillRect/>
          </a:stretch>
        </p:blipFill>
        <p:spPr>
          <a:xfrm>
            <a:off x="4972050" y="3364706"/>
            <a:ext cx="128588" cy="128588"/>
          </a:xfrm>
          <a:prstGeom prst="rect">
            <a:avLst/>
          </a:prstGeom>
        </p:spPr>
      </p:pic>
      <p:sp>
        <p:nvSpPr>
          <p:cNvPr id="39" name="Text 31"/>
          <p:cNvSpPr/>
          <p:nvPr/>
        </p:nvSpPr>
        <p:spPr>
          <a:xfrm>
            <a:off x="5286375" y="3342382"/>
            <a:ext cx="707231" cy="173236"/>
          </a:xfrm>
          <a:prstGeom prst="rect">
            <a:avLst/>
          </a:prstGeom>
          <a:noFill/>
          <a:ln/>
        </p:spPr>
        <p:txBody>
          <a:bodyPr wrap="none" lIns="0" tIns="0" rIns="0" bIns="0" rtlCol="0" anchor="t">
            <a:spAutoFit/>
          </a:bodyPr>
          <a:lstStyle/>
          <a:p>
            <a:pPr marL="0" indent="0" algn="l">
              <a:buNone/>
            </a:pPr>
            <a:r>
              <a:rPr lang="en-US" sz="1000" b="1" dirty="0">
                <a:solidFill>
                  <a:srgbClr val="0F766E"/>
                </a:solidFill>
                <a:latin typeface="Montserrat Black" pitchFamily="34" charset="0"/>
                <a:ea typeface="Montserrat Black" pitchFamily="34" charset="-122"/>
                <a:cs typeface="Montserrat Black" pitchFamily="34" charset="-120"/>
              </a:rPr>
              <a:t>THREATS</a:t>
            </a:r>
            <a:endParaRPr lang="en-US" sz="1000" dirty="0"/>
          </a:p>
        </p:txBody>
      </p:sp>
      <p:sp>
        <p:nvSpPr>
          <p:cNvPr id="40" name="Text 32"/>
          <p:cNvSpPr/>
          <p:nvPr/>
        </p:nvSpPr>
        <p:spPr>
          <a:xfrm>
            <a:off x="4893469" y="3714750"/>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Fluctuation in raw material prices and production costs.</a:t>
            </a:r>
            <a:endParaRPr lang="en-US" sz="750" dirty="0"/>
          </a:p>
        </p:txBody>
      </p:sp>
      <p:sp>
        <p:nvSpPr>
          <p:cNvPr id="41" name="Text 33"/>
          <p:cNvSpPr/>
          <p:nvPr/>
        </p:nvSpPr>
        <p:spPr>
          <a:xfrm>
            <a:off x="4893469" y="3931909"/>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Low-priced alternative products flooding the market.</a:t>
            </a:r>
            <a:endParaRPr lang="en-US" sz="750" dirty="0"/>
          </a:p>
        </p:txBody>
      </p:sp>
      <p:sp>
        <p:nvSpPr>
          <p:cNvPr id="42" name="Text 34"/>
          <p:cNvSpPr/>
          <p:nvPr/>
        </p:nvSpPr>
        <p:spPr>
          <a:xfrm>
            <a:off x="4893469" y="4149068"/>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Competitors' aggressive focus on content marketing.</a:t>
            </a:r>
            <a:endParaRPr lang="en-US" sz="750" dirty="0"/>
          </a:p>
        </p:txBody>
      </p:sp>
      <p:sp>
        <p:nvSpPr>
          <p:cNvPr id="43" name="Text 35"/>
          <p:cNvSpPr/>
          <p:nvPr/>
        </p:nvSpPr>
        <p:spPr>
          <a:xfrm>
            <a:off x="4893469" y="3714750"/>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44" name="Text 36"/>
          <p:cNvSpPr/>
          <p:nvPr/>
        </p:nvSpPr>
        <p:spPr>
          <a:xfrm>
            <a:off x="4893469" y="3931909"/>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45" name="Text 37"/>
          <p:cNvSpPr/>
          <p:nvPr/>
        </p:nvSpPr>
        <p:spPr>
          <a:xfrm>
            <a:off x="4893469" y="4149068"/>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47" name="Text 11">
            <a:extLst>
              <a:ext uri="{FF2B5EF4-FFF2-40B4-BE49-F238E27FC236}">
                <a16:creationId xmlns:a16="http://schemas.microsoft.com/office/drawing/2014/main" id="{3A7A1B8A-D015-9CC9-E652-6682799CB4CC}"/>
              </a:ext>
            </a:extLst>
          </p:cNvPr>
          <p:cNvSpPr/>
          <p:nvPr/>
        </p:nvSpPr>
        <p:spPr>
          <a:xfrm>
            <a:off x="646391" y="2231217"/>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49" name="TextBox 48">
            <a:extLst>
              <a:ext uri="{FF2B5EF4-FFF2-40B4-BE49-F238E27FC236}">
                <a16:creationId xmlns:a16="http://schemas.microsoft.com/office/drawing/2014/main" id="{862B1252-3510-FD1E-08BC-197E8ACD6125}"/>
              </a:ext>
            </a:extLst>
          </p:cNvPr>
          <p:cNvSpPr txBox="1"/>
          <p:nvPr/>
        </p:nvSpPr>
        <p:spPr>
          <a:xfrm>
            <a:off x="985838" y="291783"/>
            <a:ext cx="4628270" cy="369332"/>
          </a:xfrm>
          <a:prstGeom prst="rect">
            <a:avLst/>
          </a:prstGeom>
          <a:noFill/>
        </p:spPr>
        <p:txBody>
          <a:bodyPr wrap="square">
            <a:spAutoFit/>
          </a:bodyPr>
          <a:lstStyle/>
          <a:p>
            <a:pPr marL="0" indent="0" algn="l">
              <a:buNone/>
            </a:pPr>
            <a:r>
              <a:rPr lang="en-US" sz="1800" b="1" dirty="0">
                <a:solidFill>
                  <a:srgbClr val="001B3A"/>
                </a:solidFill>
                <a:latin typeface="Montserrat Black" pitchFamily="34" charset="0"/>
                <a:ea typeface="Montserrat Black" pitchFamily="34" charset="-122"/>
                <a:cs typeface="Montserrat Black" pitchFamily="34" charset="-120"/>
              </a:rPr>
              <a:t>SWOT ANALYSIS</a:t>
            </a:r>
            <a:endParaRPr lang="en-US" sz="1800" dirty="0"/>
          </a:p>
        </p:txBody>
      </p:sp>
      <p:pic>
        <p:nvPicPr>
          <p:cNvPr id="52" name="Image 1" descr="preencoded.png">
            <a:extLst>
              <a:ext uri="{FF2B5EF4-FFF2-40B4-BE49-F238E27FC236}">
                <a16:creationId xmlns:a16="http://schemas.microsoft.com/office/drawing/2014/main" id="{40BEC342-2CC7-0BD4-EEDA-8F2F585D8DA2}"/>
              </a:ext>
            </a:extLst>
          </p:cNvPr>
          <p:cNvPicPr>
            <a:picLocks noChangeAspect="1"/>
          </p:cNvPicPr>
          <p:nvPr/>
        </p:nvPicPr>
        <p:blipFill>
          <a:blip r:embed="rId8"/>
          <a:stretch>
            <a:fillRect/>
          </a:stretch>
        </p:blipFill>
        <p:spPr>
          <a:xfrm>
            <a:off x="516136" y="361653"/>
            <a:ext cx="276820" cy="2768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428625" cy="428625"/>
          </a:xfrm>
          <a:prstGeom prst="ellipse">
            <a:avLst/>
          </a:prstGeom>
          <a:solidFill>
            <a:srgbClr val="0F766E">
              <a:alpha val="15000"/>
            </a:srgbClr>
          </a:solidFill>
          <a:ln/>
        </p:spPr>
      </p:sp>
      <p:pic>
        <p:nvPicPr>
          <p:cNvPr id="4" name="Image 1" descr="preencoded.png"/>
          <p:cNvPicPr>
            <a:picLocks noChangeAspect="1"/>
          </p:cNvPicPr>
          <p:nvPr/>
        </p:nvPicPr>
        <p:blipFill>
          <a:blip r:embed="rId4"/>
          <a:stretch>
            <a:fillRect/>
          </a:stretch>
        </p:blipFill>
        <p:spPr>
          <a:xfrm>
            <a:off x="557213" y="414338"/>
            <a:ext cx="171450" cy="171450"/>
          </a:xfrm>
          <a:prstGeom prst="rect">
            <a:avLst/>
          </a:prstGeom>
        </p:spPr>
      </p:pic>
      <p:sp>
        <p:nvSpPr>
          <p:cNvPr id="5" name="Text 1"/>
          <p:cNvSpPr/>
          <p:nvPr/>
        </p:nvSpPr>
        <p:spPr>
          <a:xfrm>
            <a:off x="1000125" y="360759"/>
            <a:ext cx="5220295" cy="278606"/>
          </a:xfrm>
          <a:prstGeom prst="rect">
            <a:avLst/>
          </a:prstGeom>
          <a:noFill/>
          <a:ln/>
        </p:spPr>
        <p:txBody>
          <a:bodyPr wrap="square" lIns="0" tIns="0" rIns="0" bIns="0" rtlCol="0" anchor="t">
            <a:spAutoFit/>
          </a:bodyPr>
          <a:lstStyle/>
          <a:p>
            <a:pPr marL="0" indent="0" algn="l">
              <a:buNone/>
            </a:pPr>
            <a:r>
              <a:rPr lang="en-US" sz="1600" b="1" dirty="0">
                <a:solidFill>
                  <a:srgbClr val="001B3A"/>
                </a:solidFill>
                <a:latin typeface="Montserrat Black" pitchFamily="34" charset="0"/>
                <a:ea typeface="Montserrat Black" pitchFamily="34" charset="-122"/>
                <a:cs typeface="Montserrat Black" pitchFamily="34" charset="-120"/>
              </a:rPr>
              <a:t>TOWS MATRIX: STRATEGIC ACTION PLANS</a:t>
            </a:r>
            <a:endParaRPr lang="en-US" sz="1600" dirty="0"/>
          </a:p>
        </p:txBody>
      </p:sp>
      <p:sp>
        <p:nvSpPr>
          <p:cNvPr id="6" name="Shape 2"/>
          <p:cNvSpPr/>
          <p:nvPr/>
        </p:nvSpPr>
        <p:spPr>
          <a:xfrm>
            <a:off x="428625" y="1000125"/>
            <a:ext cx="4036219" cy="1714500"/>
          </a:xfrm>
          <a:prstGeom prst="rect">
            <a:avLst/>
          </a:prstGeom>
          <a:solidFill>
            <a:srgbClr val="FFFFFF"/>
          </a:solidFill>
          <a:ln/>
        </p:spPr>
      </p:sp>
      <p:sp>
        <p:nvSpPr>
          <p:cNvPr id="7" name="Shape 3"/>
          <p:cNvSpPr/>
          <p:nvPr/>
        </p:nvSpPr>
        <p:spPr>
          <a:xfrm>
            <a:off x="642938" y="1214438"/>
            <a:ext cx="321469" cy="178594"/>
          </a:xfrm>
          <a:prstGeom prst="roundRect">
            <a:avLst/>
          </a:prstGeom>
          <a:solidFill>
            <a:srgbClr val="0F766E"/>
          </a:solidFill>
          <a:ln/>
        </p:spPr>
      </p:sp>
      <p:sp>
        <p:nvSpPr>
          <p:cNvPr id="8" name="Text 4"/>
          <p:cNvSpPr/>
          <p:nvPr/>
        </p:nvSpPr>
        <p:spPr>
          <a:xfrm>
            <a:off x="642938" y="1214438"/>
            <a:ext cx="321469" cy="178594"/>
          </a:xfrm>
          <a:prstGeom prst="rect">
            <a:avLst/>
          </a:prstGeom>
          <a:noFill/>
          <a:ln/>
        </p:spPr>
        <p:txBody>
          <a:bodyPr wrap="none" lIns="102108" tIns="34036" rIns="102108" bIns="34036" rtlCol="0" anchor="t">
            <a:spAutoFit/>
          </a:bodyPr>
          <a:lstStyle/>
          <a:p>
            <a:pPr marL="0" indent="0" algn="l">
              <a:buNone/>
            </a:pPr>
            <a:r>
              <a:rPr lang="en-US" sz="700" b="1" dirty="0">
                <a:solidFill>
                  <a:srgbClr val="FFFFFF"/>
                </a:solidFill>
                <a:latin typeface="Montserrat Black" pitchFamily="34" charset="0"/>
                <a:ea typeface="Montserrat Black" pitchFamily="34" charset="-122"/>
                <a:cs typeface="Montserrat Black" pitchFamily="34" charset="-120"/>
              </a:rPr>
              <a:t>SO</a:t>
            </a:r>
            <a:endParaRPr lang="en-US" sz="700" dirty="0"/>
          </a:p>
        </p:txBody>
      </p:sp>
      <p:sp>
        <p:nvSpPr>
          <p:cNvPr id="9" name="Text 5"/>
          <p:cNvSpPr/>
          <p:nvPr/>
        </p:nvSpPr>
        <p:spPr>
          <a:xfrm>
            <a:off x="1071563" y="1225153"/>
            <a:ext cx="1534120" cy="157163"/>
          </a:xfrm>
          <a:prstGeom prst="rect">
            <a:avLst/>
          </a:prstGeom>
          <a:noFill/>
          <a:ln/>
        </p:spPr>
        <p:txBody>
          <a:bodyPr wrap="squar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MAXI-MAXI STRATEGY</a:t>
            </a:r>
            <a:endParaRPr lang="en-US" sz="900" dirty="0"/>
          </a:p>
        </p:txBody>
      </p:sp>
      <p:sp>
        <p:nvSpPr>
          <p:cNvPr id="10" name="Text 6"/>
          <p:cNvSpPr/>
          <p:nvPr/>
        </p:nvSpPr>
        <p:spPr>
          <a:xfrm>
            <a:off x="642938" y="1535906"/>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Leverage Instagram's visual appeal to showcase unique colors.</a:t>
            </a:r>
            <a:endParaRPr lang="en-US" sz="750" dirty="0"/>
          </a:p>
        </p:txBody>
      </p:sp>
      <p:sp>
        <p:nvSpPr>
          <p:cNvPr id="11" name="Text 7"/>
          <p:cNvSpPr/>
          <p:nvPr/>
        </p:nvSpPr>
        <p:spPr>
          <a:xfrm>
            <a:off x="642938" y="1767353"/>
            <a:ext cx="3607594" cy="320018"/>
          </a:xfrm>
          <a:prstGeom prst="rect">
            <a:avLst/>
          </a:prstGeom>
          <a:noFill/>
          <a:ln/>
        </p:spPr>
        <p:txBody>
          <a:bodyPr wrap="squar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Target the bridal segment with premium bundles and aesthetic designs.</a:t>
            </a:r>
            <a:endParaRPr lang="en-US" sz="750" dirty="0"/>
          </a:p>
        </p:txBody>
      </p:sp>
      <p:sp>
        <p:nvSpPr>
          <p:cNvPr id="12" name="Text 8"/>
          <p:cNvSpPr/>
          <p:nvPr/>
        </p:nvSpPr>
        <p:spPr>
          <a:xfrm>
            <a:off x="642938" y="2158808"/>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Organize mall activities to capitalize on wide brand reach.</a:t>
            </a:r>
            <a:endParaRPr lang="en-US" sz="750" dirty="0"/>
          </a:p>
        </p:txBody>
      </p:sp>
      <p:sp>
        <p:nvSpPr>
          <p:cNvPr id="13" name="Shape 9"/>
          <p:cNvSpPr/>
          <p:nvPr/>
        </p:nvSpPr>
        <p:spPr>
          <a:xfrm>
            <a:off x="4679156" y="1000125"/>
            <a:ext cx="4036219" cy="1714500"/>
          </a:xfrm>
          <a:prstGeom prst="rect">
            <a:avLst/>
          </a:prstGeom>
          <a:solidFill>
            <a:srgbClr val="FFFFFF"/>
          </a:solidFill>
          <a:ln/>
        </p:spPr>
      </p:sp>
      <p:sp>
        <p:nvSpPr>
          <p:cNvPr id="14" name="Text 10"/>
          <p:cNvSpPr/>
          <p:nvPr/>
        </p:nvSpPr>
        <p:spPr>
          <a:xfrm>
            <a:off x="642938" y="1535906"/>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15" name="Text 11"/>
          <p:cNvSpPr/>
          <p:nvPr/>
        </p:nvSpPr>
        <p:spPr>
          <a:xfrm>
            <a:off x="642938" y="1767353"/>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16" name="Text 12"/>
          <p:cNvSpPr/>
          <p:nvPr/>
        </p:nvSpPr>
        <p:spPr>
          <a:xfrm>
            <a:off x="642938" y="2158808"/>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17" name="Shape 13"/>
          <p:cNvSpPr/>
          <p:nvPr/>
        </p:nvSpPr>
        <p:spPr>
          <a:xfrm>
            <a:off x="4893469" y="1214438"/>
            <a:ext cx="301823" cy="178594"/>
          </a:xfrm>
          <a:prstGeom prst="roundRect">
            <a:avLst/>
          </a:prstGeom>
          <a:solidFill>
            <a:srgbClr val="0F766E"/>
          </a:solidFill>
          <a:ln/>
        </p:spPr>
      </p:sp>
      <p:sp>
        <p:nvSpPr>
          <p:cNvPr id="18" name="Text 14"/>
          <p:cNvSpPr/>
          <p:nvPr/>
        </p:nvSpPr>
        <p:spPr>
          <a:xfrm>
            <a:off x="4893469" y="1214438"/>
            <a:ext cx="301823" cy="178594"/>
          </a:xfrm>
          <a:prstGeom prst="rect">
            <a:avLst/>
          </a:prstGeom>
          <a:noFill/>
          <a:ln/>
        </p:spPr>
        <p:txBody>
          <a:bodyPr wrap="none" lIns="102108" tIns="34036" rIns="102108" bIns="34036" rtlCol="0" anchor="t">
            <a:spAutoFit/>
          </a:bodyPr>
          <a:lstStyle/>
          <a:p>
            <a:pPr marL="0" indent="0" algn="l">
              <a:buNone/>
            </a:pPr>
            <a:r>
              <a:rPr lang="en-US" sz="700" b="1" dirty="0">
                <a:solidFill>
                  <a:srgbClr val="FFFFFF"/>
                </a:solidFill>
                <a:latin typeface="Montserrat Black" pitchFamily="34" charset="0"/>
                <a:ea typeface="Montserrat Black" pitchFamily="34" charset="-122"/>
                <a:cs typeface="Montserrat Black" pitchFamily="34" charset="-120"/>
              </a:rPr>
              <a:t>ST</a:t>
            </a:r>
            <a:endParaRPr lang="en-US" sz="700" dirty="0"/>
          </a:p>
        </p:txBody>
      </p:sp>
      <p:sp>
        <p:nvSpPr>
          <p:cNvPr id="19" name="Text 15"/>
          <p:cNvSpPr/>
          <p:nvPr/>
        </p:nvSpPr>
        <p:spPr>
          <a:xfrm>
            <a:off x="5302448" y="1225153"/>
            <a:ext cx="1487686" cy="157163"/>
          </a:xfrm>
          <a:prstGeom prst="rect">
            <a:avLst/>
          </a:prstGeom>
          <a:noFill/>
          <a:ln/>
        </p:spPr>
        <p:txBody>
          <a:bodyPr wrap="squar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MAXI-MINI STRATEGY</a:t>
            </a:r>
            <a:endParaRPr lang="en-US" sz="900" dirty="0"/>
          </a:p>
        </p:txBody>
      </p:sp>
      <p:sp>
        <p:nvSpPr>
          <p:cNvPr id="20" name="Text 16"/>
          <p:cNvSpPr/>
          <p:nvPr/>
        </p:nvSpPr>
        <p:spPr>
          <a:xfrm>
            <a:off x="4893469" y="1535906"/>
            <a:ext cx="3607594" cy="320018"/>
          </a:xfrm>
          <a:prstGeom prst="rect">
            <a:avLst/>
          </a:prstGeom>
          <a:noFill/>
          <a:ln/>
        </p:spPr>
        <p:txBody>
          <a:bodyPr wrap="squar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Educate consumers on genuine vs. synthetic granite health benefits.</a:t>
            </a:r>
            <a:endParaRPr lang="en-US" sz="750" dirty="0"/>
          </a:p>
        </p:txBody>
      </p:sp>
      <p:sp>
        <p:nvSpPr>
          <p:cNvPr id="21" name="Text 17"/>
          <p:cNvSpPr/>
          <p:nvPr/>
        </p:nvSpPr>
        <p:spPr>
          <a:xfrm>
            <a:off x="4893469" y="1927361"/>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Highlight product longevity to counter low-cost alternatives.</a:t>
            </a:r>
            <a:endParaRPr lang="en-US" sz="750" dirty="0"/>
          </a:p>
        </p:txBody>
      </p:sp>
      <p:sp>
        <p:nvSpPr>
          <p:cNvPr id="22" name="Text 18"/>
          <p:cNvSpPr/>
          <p:nvPr/>
        </p:nvSpPr>
        <p:spPr>
          <a:xfrm>
            <a:off x="4893469" y="2158808"/>
            <a:ext cx="3607594" cy="320018"/>
          </a:xfrm>
          <a:prstGeom prst="rect">
            <a:avLst/>
          </a:prstGeom>
          <a:noFill/>
          <a:ln/>
        </p:spPr>
        <p:txBody>
          <a:bodyPr wrap="squar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Focus on unique color differentiation to stand out from competitors.</a:t>
            </a:r>
            <a:endParaRPr lang="en-US" sz="750" dirty="0"/>
          </a:p>
        </p:txBody>
      </p:sp>
      <p:sp>
        <p:nvSpPr>
          <p:cNvPr id="23" name="Shape 19"/>
          <p:cNvSpPr/>
          <p:nvPr/>
        </p:nvSpPr>
        <p:spPr>
          <a:xfrm>
            <a:off x="428625" y="2928938"/>
            <a:ext cx="4036219" cy="1714500"/>
          </a:xfrm>
          <a:prstGeom prst="rect">
            <a:avLst/>
          </a:prstGeom>
          <a:solidFill>
            <a:srgbClr val="FFFFFF"/>
          </a:solidFill>
          <a:ln/>
        </p:spPr>
      </p:sp>
      <p:sp>
        <p:nvSpPr>
          <p:cNvPr id="24" name="Text 20"/>
          <p:cNvSpPr/>
          <p:nvPr/>
        </p:nvSpPr>
        <p:spPr>
          <a:xfrm>
            <a:off x="4893469" y="1535906"/>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25" name="Text 21"/>
          <p:cNvSpPr/>
          <p:nvPr/>
        </p:nvSpPr>
        <p:spPr>
          <a:xfrm>
            <a:off x="4893469" y="1927361"/>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26" name="Text 22"/>
          <p:cNvSpPr/>
          <p:nvPr/>
        </p:nvSpPr>
        <p:spPr>
          <a:xfrm>
            <a:off x="4893469" y="2158808"/>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27" name="Shape 23"/>
          <p:cNvSpPr/>
          <p:nvPr/>
        </p:nvSpPr>
        <p:spPr>
          <a:xfrm>
            <a:off x="642938" y="3143250"/>
            <a:ext cx="375047" cy="178594"/>
          </a:xfrm>
          <a:prstGeom prst="roundRect">
            <a:avLst/>
          </a:prstGeom>
          <a:solidFill>
            <a:srgbClr val="0F766E"/>
          </a:solidFill>
          <a:ln/>
        </p:spPr>
      </p:sp>
      <p:sp>
        <p:nvSpPr>
          <p:cNvPr id="28" name="Text 24"/>
          <p:cNvSpPr/>
          <p:nvPr/>
        </p:nvSpPr>
        <p:spPr>
          <a:xfrm>
            <a:off x="642938" y="3143250"/>
            <a:ext cx="375047" cy="178594"/>
          </a:xfrm>
          <a:prstGeom prst="rect">
            <a:avLst/>
          </a:prstGeom>
          <a:noFill/>
          <a:ln/>
        </p:spPr>
        <p:txBody>
          <a:bodyPr wrap="none" lIns="102108" tIns="34036" rIns="102108" bIns="34036" rtlCol="0" anchor="t">
            <a:spAutoFit/>
          </a:bodyPr>
          <a:lstStyle/>
          <a:p>
            <a:pPr marL="0" indent="0" algn="l">
              <a:buNone/>
            </a:pPr>
            <a:r>
              <a:rPr lang="en-US" sz="700" b="1" dirty="0">
                <a:solidFill>
                  <a:srgbClr val="FFFFFF"/>
                </a:solidFill>
                <a:latin typeface="Montserrat Black" pitchFamily="34" charset="0"/>
                <a:ea typeface="Montserrat Black" pitchFamily="34" charset="-122"/>
                <a:cs typeface="Montserrat Black" pitchFamily="34" charset="-120"/>
              </a:rPr>
              <a:t>WO</a:t>
            </a:r>
            <a:endParaRPr lang="en-US" sz="700" dirty="0"/>
          </a:p>
        </p:txBody>
      </p:sp>
      <p:sp>
        <p:nvSpPr>
          <p:cNvPr id="29" name="Text 25"/>
          <p:cNvSpPr/>
          <p:nvPr/>
        </p:nvSpPr>
        <p:spPr>
          <a:xfrm>
            <a:off x="1125141" y="3153966"/>
            <a:ext cx="1487686" cy="157163"/>
          </a:xfrm>
          <a:prstGeom prst="rect">
            <a:avLst/>
          </a:prstGeom>
          <a:noFill/>
          <a:ln/>
        </p:spPr>
        <p:txBody>
          <a:bodyPr wrap="squar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MINI-MAXI STRATEGY</a:t>
            </a:r>
            <a:endParaRPr lang="en-US" sz="900" dirty="0"/>
          </a:p>
        </p:txBody>
      </p:sp>
      <p:sp>
        <p:nvSpPr>
          <p:cNvPr id="30" name="Text 26"/>
          <p:cNvSpPr/>
          <p:nvPr/>
        </p:nvSpPr>
        <p:spPr>
          <a:xfrm>
            <a:off x="642938" y="3464719"/>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Partner with influencers for professional cooking video content.</a:t>
            </a:r>
            <a:endParaRPr lang="en-US" sz="750" dirty="0"/>
          </a:p>
        </p:txBody>
      </p:sp>
      <p:sp>
        <p:nvSpPr>
          <p:cNvPr id="31" name="Text 27"/>
          <p:cNvSpPr/>
          <p:nvPr/>
        </p:nvSpPr>
        <p:spPr>
          <a:xfrm>
            <a:off x="642938" y="3696165"/>
            <a:ext cx="3607594" cy="320018"/>
          </a:xfrm>
          <a:prstGeom prst="rect">
            <a:avLst/>
          </a:prstGeom>
          <a:noFill/>
          <a:ln/>
        </p:spPr>
        <p:txBody>
          <a:bodyPr wrap="squar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Launch "Visit Our Branch" campaigns during peak seasons like Ramadan.</a:t>
            </a:r>
            <a:endParaRPr lang="en-US" sz="750" dirty="0"/>
          </a:p>
        </p:txBody>
      </p:sp>
      <p:sp>
        <p:nvSpPr>
          <p:cNvPr id="32" name="Text 28"/>
          <p:cNvSpPr/>
          <p:nvPr/>
        </p:nvSpPr>
        <p:spPr>
          <a:xfrm>
            <a:off x="642938" y="4087620"/>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Engage young creators with targeted gifting and lifestyle content.</a:t>
            </a:r>
            <a:endParaRPr lang="en-US" sz="750" dirty="0"/>
          </a:p>
        </p:txBody>
      </p:sp>
      <p:sp>
        <p:nvSpPr>
          <p:cNvPr id="33" name="Shape 29"/>
          <p:cNvSpPr/>
          <p:nvPr/>
        </p:nvSpPr>
        <p:spPr>
          <a:xfrm>
            <a:off x="4679156" y="2928938"/>
            <a:ext cx="4036219" cy="1714500"/>
          </a:xfrm>
          <a:prstGeom prst="rect">
            <a:avLst/>
          </a:prstGeom>
          <a:solidFill>
            <a:srgbClr val="FFFFFF"/>
          </a:solidFill>
          <a:ln/>
        </p:spPr>
      </p:sp>
      <p:sp>
        <p:nvSpPr>
          <p:cNvPr id="34" name="Text 30"/>
          <p:cNvSpPr/>
          <p:nvPr/>
        </p:nvSpPr>
        <p:spPr>
          <a:xfrm>
            <a:off x="642938" y="3464719"/>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35" name="Text 31"/>
          <p:cNvSpPr/>
          <p:nvPr/>
        </p:nvSpPr>
        <p:spPr>
          <a:xfrm>
            <a:off x="642938" y="3696165"/>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36" name="Text 32"/>
          <p:cNvSpPr/>
          <p:nvPr/>
        </p:nvSpPr>
        <p:spPr>
          <a:xfrm>
            <a:off x="642938" y="4087620"/>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37" name="Shape 33"/>
          <p:cNvSpPr/>
          <p:nvPr/>
        </p:nvSpPr>
        <p:spPr>
          <a:xfrm>
            <a:off x="4893469" y="3143250"/>
            <a:ext cx="357188" cy="178594"/>
          </a:xfrm>
          <a:prstGeom prst="roundRect">
            <a:avLst/>
          </a:prstGeom>
          <a:solidFill>
            <a:srgbClr val="0F766E"/>
          </a:solidFill>
          <a:ln/>
        </p:spPr>
      </p:sp>
      <p:sp>
        <p:nvSpPr>
          <p:cNvPr id="38" name="Text 34"/>
          <p:cNvSpPr/>
          <p:nvPr/>
        </p:nvSpPr>
        <p:spPr>
          <a:xfrm>
            <a:off x="4893469" y="3143250"/>
            <a:ext cx="357188" cy="178594"/>
          </a:xfrm>
          <a:prstGeom prst="rect">
            <a:avLst/>
          </a:prstGeom>
          <a:noFill/>
          <a:ln/>
        </p:spPr>
        <p:txBody>
          <a:bodyPr wrap="none" lIns="102108" tIns="34036" rIns="102108" bIns="34036" rtlCol="0" anchor="t">
            <a:spAutoFit/>
          </a:bodyPr>
          <a:lstStyle/>
          <a:p>
            <a:pPr marL="0" indent="0" algn="l">
              <a:buNone/>
            </a:pPr>
            <a:r>
              <a:rPr lang="en-US" sz="700" b="1" dirty="0">
                <a:solidFill>
                  <a:srgbClr val="FFFFFF"/>
                </a:solidFill>
                <a:latin typeface="Montserrat Black" pitchFamily="34" charset="0"/>
                <a:ea typeface="Montserrat Black" pitchFamily="34" charset="-122"/>
                <a:cs typeface="Montserrat Black" pitchFamily="34" charset="-120"/>
              </a:rPr>
              <a:t>WT</a:t>
            </a:r>
            <a:endParaRPr lang="en-US" sz="700" dirty="0"/>
          </a:p>
        </p:txBody>
      </p:sp>
      <p:sp>
        <p:nvSpPr>
          <p:cNvPr id="39" name="Text 35"/>
          <p:cNvSpPr/>
          <p:nvPr/>
        </p:nvSpPr>
        <p:spPr>
          <a:xfrm>
            <a:off x="5357813" y="3153966"/>
            <a:ext cx="1441252" cy="157163"/>
          </a:xfrm>
          <a:prstGeom prst="rect">
            <a:avLst/>
          </a:prstGeom>
          <a:noFill/>
          <a:ln/>
        </p:spPr>
        <p:txBody>
          <a:bodyPr wrap="square" lIns="0" tIns="0" rIns="0" bIns="0" rtlCol="0" anchor="t">
            <a:spAutoFit/>
          </a:bodyPr>
          <a:lstStyle/>
          <a:p>
            <a:pPr marL="0" indent="0" algn="l">
              <a:buNone/>
            </a:pPr>
            <a:r>
              <a:rPr lang="en-US" sz="900" b="1" dirty="0">
                <a:solidFill>
                  <a:srgbClr val="0F766E"/>
                </a:solidFill>
                <a:latin typeface="Montserrat Black" pitchFamily="34" charset="0"/>
                <a:ea typeface="Montserrat Black" pitchFamily="34" charset="-122"/>
                <a:cs typeface="Montserrat Black" pitchFamily="34" charset="-120"/>
              </a:rPr>
              <a:t>MINI-MINI STRATEGY</a:t>
            </a:r>
            <a:endParaRPr lang="en-US" sz="900" dirty="0"/>
          </a:p>
        </p:txBody>
      </p:sp>
      <p:sp>
        <p:nvSpPr>
          <p:cNvPr id="40" name="Text 36"/>
          <p:cNvSpPr/>
          <p:nvPr/>
        </p:nvSpPr>
        <p:spPr>
          <a:xfrm>
            <a:off x="4893469" y="3464719"/>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Implement a robust customer review system to build social proof.</a:t>
            </a:r>
            <a:endParaRPr lang="en-US" sz="750" dirty="0"/>
          </a:p>
        </p:txBody>
      </p:sp>
      <p:sp>
        <p:nvSpPr>
          <p:cNvPr id="41" name="Text 37"/>
          <p:cNvSpPr/>
          <p:nvPr/>
        </p:nvSpPr>
        <p:spPr>
          <a:xfrm>
            <a:off x="4893469" y="3696165"/>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Unify brand language and response protocols across all platforms.</a:t>
            </a:r>
            <a:endParaRPr lang="en-US" sz="750" dirty="0"/>
          </a:p>
        </p:txBody>
      </p:sp>
      <p:sp>
        <p:nvSpPr>
          <p:cNvPr id="42" name="Text 38"/>
          <p:cNvSpPr/>
          <p:nvPr/>
        </p:nvSpPr>
        <p:spPr>
          <a:xfrm>
            <a:off x="4893469" y="3927611"/>
            <a:ext cx="3607594" cy="160009"/>
          </a:xfrm>
          <a:prstGeom prst="rect">
            <a:avLst/>
          </a:prstGeom>
          <a:noFill/>
          <a:ln/>
        </p:spPr>
        <p:txBody>
          <a:bodyPr wrap="none" lIns="170053" tIns="0" rIns="0" bIns="0" rtlCol="0" anchor="t">
            <a:spAutoFit/>
          </a:bodyPr>
          <a:lstStyle/>
          <a:p>
            <a:pPr marL="0" indent="0" algn="l">
              <a:lnSpc>
                <a:spcPct val="128000"/>
              </a:lnSpc>
              <a:buNone/>
            </a:pPr>
            <a:r>
              <a:rPr lang="en-US" sz="750" dirty="0">
                <a:solidFill>
                  <a:srgbClr val="001B3A"/>
                </a:solidFill>
                <a:latin typeface="Montserrat Medium" pitchFamily="34" charset="0"/>
                <a:ea typeface="Montserrat Medium" pitchFamily="34" charset="-122"/>
                <a:cs typeface="Montserrat Medium" pitchFamily="34" charset="-120"/>
              </a:rPr>
              <a:t>Clearly announce website offers through coordinated social posts.</a:t>
            </a:r>
            <a:endParaRPr lang="en-US" sz="750" dirty="0"/>
          </a:p>
        </p:txBody>
      </p:sp>
      <p:sp>
        <p:nvSpPr>
          <p:cNvPr id="43" name="Text 39"/>
          <p:cNvSpPr/>
          <p:nvPr/>
        </p:nvSpPr>
        <p:spPr>
          <a:xfrm>
            <a:off x="4893469" y="3464719"/>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44" name="Text 40"/>
          <p:cNvSpPr/>
          <p:nvPr/>
        </p:nvSpPr>
        <p:spPr>
          <a:xfrm>
            <a:off x="4893469" y="3696165"/>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
        <p:nvSpPr>
          <p:cNvPr id="45" name="Text 41"/>
          <p:cNvSpPr/>
          <p:nvPr/>
        </p:nvSpPr>
        <p:spPr>
          <a:xfrm>
            <a:off x="4893469" y="3927611"/>
            <a:ext cx="41077" cy="159981"/>
          </a:xfrm>
          <a:prstGeom prst="rect">
            <a:avLst/>
          </a:prstGeom>
          <a:noFill/>
          <a:ln/>
        </p:spPr>
        <p:txBody>
          <a:bodyPr wrap="none" lIns="0" tIns="0" rIns="0" bIns="0" rtlCol="0" anchor="t">
            <a:spAutoFit/>
          </a:bodyPr>
          <a:lstStyle/>
          <a:p>
            <a:pPr marL="0" indent="0" algn="l">
              <a:lnSpc>
                <a:spcPct val="128000"/>
              </a:lnSpc>
              <a:buNone/>
            </a:pPr>
            <a:r>
              <a:rPr lang="en-US" sz="700" b="1" dirty="0">
                <a:solidFill>
                  <a:srgbClr val="0F766E"/>
                </a:solidFill>
                <a:latin typeface="Montserrat Black" pitchFamily="34" charset="0"/>
                <a:ea typeface="Montserrat Black" pitchFamily="34" charset="-122"/>
                <a:cs typeface="Montserrat Black" pitchFamily="34" charset="-120"/>
              </a:rPr>
              <a:t>•</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357188" cy="357188"/>
          </a:xfrm>
          <a:prstGeom prst="ellipse">
            <a:avLst/>
          </a:prstGeom>
          <a:solidFill>
            <a:srgbClr val="0F766E">
              <a:alpha val="15000"/>
            </a:srgbClr>
          </a:solidFill>
          <a:ln/>
        </p:spPr>
      </p:sp>
      <p:pic>
        <p:nvPicPr>
          <p:cNvPr id="4" name="Image 1" descr="preencoded.png"/>
          <p:cNvPicPr>
            <a:picLocks noChangeAspect="1"/>
          </p:cNvPicPr>
          <p:nvPr/>
        </p:nvPicPr>
        <p:blipFill>
          <a:blip r:embed="rId4"/>
          <a:stretch>
            <a:fillRect/>
          </a:stretch>
        </p:blipFill>
        <p:spPr>
          <a:xfrm>
            <a:off x="535781" y="392906"/>
            <a:ext cx="142875" cy="142875"/>
          </a:xfrm>
          <a:prstGeom prst="rect">
            <a:avLst/>
          </a:prstGeom>
        </p:spPr>
      </p:pic>
      <p:sp>
        <p:nvSpPr>
          <p:cNvPr id="5" name="Text 1"/>
          <p:cNvSpPr/>
          <p:nvPr/>
        </p:nvSpPr>
        <p:spPr>
          <a:xfrm>
            <a:off x="928688" y="325041"/>
            <a:ext cx="2736056" cy="278606"/>
          </a:xfrm>
          <a:prstGeom prst="rect">
            <a:avLst/>
          </a:prstGeom>
          <a:noFill/>
          <a:ln/>
        </p:spPr>
        <p:txBody>
          <a:bodyPr wrap="square" lIns="0" tIns="0" rIns="0" bIns="0" rtlCol="0" anchor="t">
            <a:spAutoFit/>
          </a:bodyPr>
          <a:lstStyle/>
          <a:p>
            <a:pPr marL="0" indent="0" algn="l">
              <a:buNone/>
            </a:pPr>
            <a:r>
              <a:rPr lang="en-US" sz="1600" b="1" dirty="0">
                <a:solidFill>
                  <a:srgbClr val="001B3A"/>
                </a:solidFill>
                <a:latin typeface="Montserrat Black" pitchFamily="34" charset="0"/>
                <a:ea typeface="Montserrat Black" pitchFamily="34" charset="-122"/>
                <a:cs typeface="Montserrat Black" pitchFamily="34" charset="-120"/>
              </a:rPr>
              <a:t>MARKETING MIX (7PS)</a:t>
            </a:r>
            <a:endParaRPr lang="en-US" sz="1600" dirty="0"/>
          </a:p>
        </p:txBody>
      </p:sp>
      <p:sp>
        <p:nvSpPr>
          <p:cNvPr id="6" name="Shape 2"/>
          <p:cNvSpPr/>
          <p:nvPr/>
        </p:nvSpPr>
        <p:spPr>
          <a:xfrm>
            <a:off x="428625" y="857250"/>
            <a:ext cx="2321719" cy="1000125"/>
          </a:xfrm>
          <a:prstGeom prst="rect">
            <a:avLst/>
          </a:prstGeom>
          <a:solidFill>
            <a:srgbClr val="FFFFFF"/>
          </a:solidFill>
          <a:ln/>
        </p:spPr>
      </p:sp>
      <p:pic>
        <p:nvPicPr>
          <p:cNvPr id="7" name="Image 2" descr="preencoded.png"/>
          <p:cNvPicPr>
            <a:picLocks noChangeAspect="1"/>
          </p:cNvPicPr>
          <p:nvPr/>
        </p:nvPicPr>
        <p:blipFill>
          <a:blip r:embed="rId5"/>
          <a:stretch>
            <a:fillRect/>
          </a:stretch>
        </p:blipFill>
        <p:spPr>
          <a:xfrm>
            <a:off x="571500" y="1010841"/>
            <a:ext cx="87511" cy="100013"/>
          </a:xfrm>
          <a:prstGeom prst="rect">
            <a:avLst/>
          </a:prstGeom>
        </p:spPr>
      </p:pic>
      <p:sp>
        <p:nvSpPr>
          <p:cNvPr id="8" name="Text 3"/>
          <p:cNvSpPr/>
          <p:nvPr/>
        </p:nvSpPr>
        <p:spPr>
          <a:xfrm>
            <a:off x="716161" y="1000125"/>
            <a:ext cx="532209" cy="121444"/>
          </a:xfrm>
          <a:prstGeom prst="rect">
            <a:avLst/>
          </a:prstGeom>
          <a:noFill/>
          <a:ln/>
        </p:spPr>
        <p:txBody>
          <a:bodyPr wrap="non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PRODUCT</a:t>
            </a:r>
            <a:endParaRPr lang="en-US" sz="700" dirty="0"/>
          </a:p>
        </p:txBody>
      </p:sp>
      <p:sp>
        <p:nvSpPr>
          <p:cNvPr id="9" name="Text 4"/>
          <p:cNvSpPr/>
          <p:nvPr/>
        </p:nvSpPr>
        <p:spPr>
          <a:xfrm>
            <a:off x="571500" y="1178719"/>
            <a:ext cx="2035969" cy="390032"/>
          </a:xfrm>
          <a:prstGeom prst="rect">
            <a:avLst/>
          </a:prstGeom>
          <a:noFill/>
          <a:ln/>
        </p:spPr>
        <p:txBody>
          <a:bodyPr wrap="square" lIns="0"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Premium granite trays, pots, and pans with distinctive colors and superior heat distribution.</a:t>
            </a:r>
            <a:endParaRPr lang="en-US" sz="650" dirty="0"/>
          </a:p>
        </p:txBody>
      </p:sp>
      <p:sp>
        <p:nvSpPr>
          <p:cNvPr id="10" name="Shape 5"/>
          <p:cNvSpPr/>
          <p:nvPr/>
        </p:nvSpPr>
        <p:spPr>
          <a:xfrm>
            <a:off x="2893219" y="857250"/>
            <a:ext cx="2321719" cy="1000125"/>
          </a:xfrm>
          <a:prstGeom prst="rect">
            <a:avLst/>
          </a:prstGeom>
          <a:solidFill>
            <a:srgbClr val="FFFFFF"/>
          </a:solidFill>
          <a:ln/>
        </p:spPr>
      </p:sp>
      <p:pic>
        <p:nvPicPr>
          <p:cNvPr id="11" name="Image 3" descr="preencoded.png"/>
          <p:cNvPicPr>
            <a:picLocks noChangeAspect="1"/>
          </p:cNvPicPr>
          <p:nvPr/>
        </p:nvPicPr>
        <p:blipFill>
          <a:blip r:embed="rId6"/>
          <a:stretch>
            <a:fillRect/>
          </a:stretch>
        </p:blipFill>
        <p:spPr>
          <a:xfrm>
            <a:off x="3036094" y="1010841"/>
            <a:ext cx="87511" cy="100013"/>
          </a:xfrm>
          <a:prstGeom prst="rect">
            <a:avLst/>
          </a:prstGeom>
        </p:spPr>
      </p:pic>
      <p:sp>
        <p:nvSpPr>
          <p:cNvPr id="12" name="Text 6"/>
          <p:cNvSpPr/>
          <p:nvPr/>
        </p:nvSpPr>
        <p:spPr>
          <a:xfrm>
            <a:off x="3180755" y="1000125"/>
            <a:ext cx="325041" cy="121444"/>
          </a:xfrm>
          <a:prstGeom prst="rect">
            <a:avLst/>
          </a:prstGeom>
          <a:noFill/>
          <a:ln/>
        </p:spPr>
        <p:txBody>
          <a:bodyPr wrap="non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PRICE</a:t>
            </a:r>
            <a:endParaRPr lang="en-US" sz="700" dirty="0"/>
          </a:p>
        </p:txBody>
      </p:sp>
      <p:sp>
        <p:nvSpPr>
          <p:cNvPr id="13" name="Text 7"/>
          <p:cNvSpPr/>
          <p:nvPr/>
        </p:nvSpPr>
        <p:spPr>
          <a:xfrm>
            <a:off x="3036094" y="1178719"/>
            <a:ext cx="2035969" cy="390032"/>
          </a:xfrm>
          <a:prstGeom prst="rect">
            <a:avLst/>
          </a:prstGeom>
          <a:noFill/>
          <a:ln/>
        </p:spPr>
        <p:txBody>
          <a:bodyPr wrap="square" lIns="0"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Competitive average pricing offering high value-for-money compared to premium rivals.</a:t>
            </a:r>
            <a:endParaRPr lang="en-US" sz="650" dirty="0"/>
          </a:p>
        </p:txBody>
      </p:sp>
      <p:sp>
        <p:nvSpPr>
          <p:cNvPr id="14" name="Shape 8"/>
          <p:cNvSpPr/>
          <p:nvPr/>
        </p:nvSpPr>
        <p:spPr>
          <a:xfrm>
            <a:off x="428625" y="2000250"/>
            <a:ext cx="2321719" cy="1000125"/>
          </a:xfrm>
          <a:prstGeom prst="rect">
            <a:avLst/>
          </a:prstGeom>
          <a:solidFill>
            <a:srgbClr val="FFFFFF"/>
          </a:solidFill>
          <a:ln/>
        </p:spPr>
      </p:sp>
      <p:pic>
        <p:nvPicPr>
          <p:cNvPr id="15" name="Image 4" descr="preencoded.png"/>
          <p:cNvPicPr>
            <a:picLocks noChangeAspect="1"/>
          </p:cNvPicPr>
          <p:nvPr/>
        </p:nvPicPr>
        <p:blipFill>
          <a:blip r:embed="rId7"/>
          <a:stretch>
            <a:fillRect/>
          </a:stretch>
        </p:blipFill>
        <p:spPr>
          <a:xfrm>
            <a:off x="571500" y="2153841"/>
            <a:ext cx="75009" cy="100013"/>
          </a:xfrm>
          <a:prstGeom prst="rect">
            <a:avLst/>
          </a:prstGeom>
        </p:spPr>
      </p:pic>
      <p:sp>
        <p:nvSpPr>
          <p:cNvPr id="16" name="Text 9"/>
          <p:cNvSpPr/>
          <p:nvPr/>
        </p:nvSpPr>
        <p:spPr>
          <a:xfrm>
            <a:off x="703659" y="2143125"/>
            <a:ext cx="357188" cy="121444"/>
          </a:xfrm>
          <a:prstGeom prst="rect">
            <a:avLst/>
          </a:prstGeom>
          <a:noFill/>
          <a:ln/>
        </p:spPr>
        <p:txBody>
          <a:bodyPr wrap="non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PLACE</a:t>
            </a:r>
            <a:endParaRPr lang="en-US" sz="700" dirty="0"/>
          </a:p>
        </p:txBody>
      </p:sp>
      <p:sp>
        <p:nvSpPr>
          <p:cNvPr id="17" name="Text 10"/>
          <p:cNvSpPr/>
          <p:nvPr/>
        </p:nvSpPr>
        <p:spPr>
          <a:xfrm>
            <a:off x="571500" y="2321719"/>
            <a:ext cx="2035969" cy="390032"/>
          </a:xfrm>
          <a:prstGeom prst="rect">
            <a:avLst/>
          </a:prstGeom>
          <a:noFill/>
          <a:ln/>
        </p:spPr>
        <p:txBody>
          <a:bodyPr wrap="square" lIns="0"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Available in Hypermarkets (Carrefour, Shahin, El-Morshedy) and dedicated online storefront.</a:t>
            </a:r>
            <a:endParaRPr lang="en-US" sz="650" dirty="0"/>
          </a:p>
        </p:txBody>
      </p:sp>
      <p:sp>
        <p:nvSpPr>
          <p:cNvPr id="18" name="Shape 11"/>
          <p:cNvSpPr/>
          <p:nvPr/>
        </p:nvSpPr>
        <p:spPr>
          <a:xfrm>
            <a:off x="2893219" y="2000250"/>
            <a:ext cx="2321719" cy="1000125"/>
          </a:xfrm>
          <a:prstGeom prst="rect">
            <a:avLst/>
          </a:prstGeom>
          <a:solidFill>
            <a:srgbClr val="FFFFFF"/>
          </a:solidFill>
          <a:ln/>
        </p:spPr>
      </p:sp>
      <p:pic>
        <p:nvPicPr>
          <p:cNvPr id="19" name="Image 5" descr="preencoded.png"/>
          <p:cNvPicPr>
            <a:picLocks noChangeAspect="1"/>
          </p:cNvPicPr>
          <p:nvPr/>
        </p:nvPicPr>
        <p:blipFill>
          <a:blip r:embed="rId8"/>
          <a:stretch>
            <a:fillRect/>
          </a:stretch>
        </p:blipFill>
        <p:spPr>
          <a:xfrm>
            <a:off x="3036094" y="2153841"/>
            <a:ext cx="112514" cy="100013"/>
          </a:xfrm>
          <a:prstGeom prst="rect">
            <a:avLst/>
          </a:prstGeom>
        </p:spPr>
      </p:pic>
      <p:sp>
        <p:nvSpPr>
          <p:cNvPr id="20" name="Text 12"/>
          <p:cNvSpPr/>
          <p:nvPr/>
        </p:nvSpPr>
        <p:spPr>
          <a:xfrm>
            <a:off x="3205758" y="2143125"/>
            <a:ext cx="675084" cy="121444"/>
          </a:xfrm>
          <a:prstGeom prst="rect">
            <a:avLst/>
          </a:prstGeom>
          <a:noFill/>
          <a:ln/>
        </p:spPr>
        <p:txBody>
          <a:bodyPr wrap="non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PROMOTION</a:t>
            </a:r>
            <a:endParaRPr lang="en-US" sz="700" dirty="0"/>
          </a:p>
        </p:txBody>
      </p:sp>
      <p:sp>
        <p:nvSpPr>
          <p:cNvPr id="21" name="Text 13"/>
          <p:cNvSpPr/>
          <p:nvPr/>
        </p:nvSpPr>
        <p:spPr>
          <a:xfrm>
            <a:off x="3036094" y="2321719"/>
            <a:ext cx="2035969" cy="260021"/>
          </a:xfrm>
          <a:prstGeom prst="rect">
            <a:avLst/>
          </a:prstGeom>
          <a:noFill/>
          <a:ln/>
        </p:spPr>
        <p:txBody>
          <a:bodyPr wrap="square" lIns="0"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Strategic paid advertisements focused on sales content and lifestyle benefits.</a:t>
            </a:r>
            <a:endParaRPr lang="en-US" sz="650" dirty="0"/>
          </a:p>
        </p:txBody>
      </p:sp>
      <p:sp>
        <p:nvSpPr>
          <p:cNvPr id="22" name="Shape 14"/>
          <p:cNvSpPr/>
          <p:nvPr/>
        </p:nvSpPr>
        <p:spPr>
          <a:xfrm>
            <a:off x="428625" y="3143250"/>
            <a:ext cx="2321719" cy="1000125"/>
          </a:xfrm>
          <a:prstGeom prst="rect">
            <a:avLst/>
          </a:prstGeom>
          <a:solidFill>
            <a:srgbClr val="FFFFFF"/>
          </a:solidFill>
          <a:ln/>
        </p:spPr>
      </p:sp>
      <p:pic>
        <p:nvPicPr>
          <p:cNvPr id="23" name="Image 6" descr="preencoded.png"/>
          <p:cNvPicPr>
            <a:picLocks noChangeAspect="1"/>
          </p:cNvPicPr>
          <p:nvPr/>
        </p:nvPicPr>
        <p:blipFill>
          <a:blip r:embed="rId9"/>
          <a:stretch>
            <a:fillRect/>
          </a:stretch>
        </p:blipFill>
        <p:spPr>
          <a:xfrm>
            <a:off x="571500" y="3296841"/>
            <a:ext cx="125016" cy="100013"/>
          </a:xfrm>
          <a:prstGeom prst="rect">
            <a:avLst/>
          </a:prstGeom>
        </p:spPr>
      </p:pic>
      <p:sp>
        <p:nvSpPr>
          <p:cNvPr id="24" name="Text 15"/>
          <p:cNvSpPr/>
          <p:nvPr/>
        </p:nvSpPr>
        <p:spPr>
          <a:xfrm>
            <a:off x="753666" y="3286125"/>
            <a:ext cx="428625" cy="121444"/>
          </a:xfrm>
          <a:prstGeom prst="rect">
            <a:avLst/>
          </a:prstGeom>
          <a:noFill/>
          <a:ln/>
        </p:spPr>
        <p:txBody>
          <a:bodyPr wrap="non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PEOPLE</a:t>
            </a:r>
            <a:endParaRPr lang="en-US" sz="700" dirty="0"/>
          </a:p>
        </p:txBody>
      </p:sp>
      <p:sp>
        <p:nvSpPr>
          <p:cNvPr id="25" name="Text 16"/>
          <p:cNvSpPr/>
          <p:nvPr/>
        </p:nvSpPr>
        <p:spPr>
          <a:xfrm>
            <a:off x="571500" y="3464719"/>
            <a:ext cx="2035969" cy="260021"/>
          </a:xfrm>
          <a:prstGeom prst="rect">
            <a:avLst/>
          </a:prstGeom>
          <a:noFill/>
          <a:ln/>
        </p:spPr>
        <p:txBody>
          <a:bodyPr wrap="square" lIns="0"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Uniformed professional staff in branches ensuring a consistent brand experience.</a:t>
            </a:r>
            <a:endParaRPr lang="en-US" sz="650" dirty="0"/>
          </a:p>
        </p:txBody>
      </p:sp>
      <p:sp>
        <p:nvSpPr>
          <p:cNvPr id="26" name="Shape 17"/>
          <p:cNvSpPr/>
          <p:nvPr/>
        </p:nvSpPr>
        <p:spPr>
          <a:xfrm>
            <a:off x="2893219" y="3143250"/>
            <a:ext cx="2321719" cy="1000125"/>
          </a:xfrm>
          <a:prstGeom prst="rect">
            <a:avLst/>
          </a:prstGeom>
          <a:solidFill>
            <a:srgbClr val="FFFFFF"/>
          </a:solidFill>
          <a:ln/>
        </p:spPr>
      </p:sp>
      <p:pic>
        <p:nvPicPr>
          <p:cNvPr id="27" name="Image 7" descr="preencoded.png"/>
          <p:cNvPicPr>
            <a:picLocks noChangeAspect="1"/>
          </p:cNvPicPr>
          <p:nvPr/>
        </p:nvPicPr>
        <p:blipFill>
          <a:blip r:embed="rId10"/>
          <a:stretch>
            <a:fillRect/>
          </a:stretch>
        </p:blipFill>
        <p:spPr>
          <a:xfrm>
            <a:off x="3036094" y="3296841"/>
            <a:ext cx="125016" cy="100013"/>
          </a:xfrm>
          <a:prstGeom prst="rect">
            <a:avLst/>
          </a:prstGeom>
        </p:spPr>
      </p:pic>
      <p:sp>
        <p:nvSpPr>
          <p:cNvPr id="28" name="Text 18"/>
          <p:cNvSpPr/>
          <p:nvPr/>
        </p:nvSpPr>
        <p:spPr>
          <a:xfrm>
            <a:off x="3218259" y="3286125"/>
            <a:ext cx="505420" cy="121444"/>
          </a:xfrm>
          <a:prstGeom prst="rect">
            <a:avLst/>
          </a:prstGeom>
          <a:noFill/>
          <a:ln/>
        </p:spPr>
        <p:txBody>
          <a:bodyPr wrap="non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PROCESS</a:t>
            </a:r>
            <a:endParaRPr lang="en-US" sz="700" dirty="0"/>
          </a:p>
        </p:txBody>
      </p:sp>
      <p:sp>
        <p:nvSpPr>
          <p:cNvPr id="29" name="Text 19"/>
          <p:cNvSpPr/>
          <p:nvPr/>
        </p:nvSpPr>
        <p:spPr>
          <a:xfrm>
            <a:off x="3036094" y="3464719"/>
            <a:ext cx="2035969" cy="390032"/>
          </a:xfrm>
          <a:prstGeom prst="rect">
            <a:avLst/>
          </a:prstGeom>
          <a:noFill/>
          <a:ln/>
        </p:spPr>
        <p:txBody>
          <a:bodyPr wrap="square" lIns="0"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Streamlined ordering with multiple payment options and easy checkout process.</a:t>
            </a:r>
            <a:endParaRPr lang="en-US" sz="650" dirty="0"/>
          </a:p>
        </p:txBody>
      </p:sp>
      <p:sp>
        <p:nvSpPr>
          <p:cNvPr id="30" name="Shape 20"/>
          <p:cNvSpPr/>
          <p:nvPr/>
        </p:nvSpPr>
        <p:spPr>
          <a:xfrm>
            <a:off x="428625" y="4286250"/>
            <a:ext cx="4786313" cy="785813"/>
          </a:xfrm>
          <a:prstGeom prst="rect">
            <a:avLst/>
          </a:prstGeom>
          <a:solidFill>
            <a:srgbClr val="FFFFFF"/>
          </a:solidFill>
          <a:ln/>
        </p:spPr>
      </p:sp>
      <p:pic>
        <p:nvPicPr>
          <p:cNvPr id="31" name="Image 8" descr="preencoded.png"/>
          <p:cNvPicPr>
            <a:picLocks noChangeAspect="1"/>
          </p:cNvPicPr>
          <p:nvPr/>
        </p:nvPicPr>
        <p:blipFill>
          <a:blip r:embed="rId11"/>
          <a:stretch>
            <a:fillRect/>
          </a:stretch>
        </p:blipFill>
        <p:spPr>
          <a:xfrm>
            <a:off x="571500" y="4439841"/>
            <a:ext cx="112514" cy="100013"/>
          </a:xfrm>
          <a:prstGeom prst="rect">
            <a:avLst/>
          </a:prstGeom>
        </p:spPr>
      </p:pic>
      <p:sp>
        <p:nvSpPr>
          <p:cNvPr id="32" name="Text 21"/>
          <p:cNvSpPr/>
          <p:nvPr/>
        </p:nvSpPr>
        <p:spPr>
          <a:xfrm>
            <a:off x="741164" y="4429125"/>
            <a:ext cx="1119783" cy="121444"/>
          </a:xfrm>
          <a:prstGeom prst="rect">
            <a:avLst/>
          </a:prstGeom>
          <a:noFill/>
          <a:ln/>
        </p:spPr>
        <p:txBody>
          <a:bodyPr wrap="none" lIns="0" tIns="0" rIns="0" bIns="0" rtlCol="0" anchor="t">
            <a:spAutoFit/>
          </a:bodyPr>
          <a:lstStyle/>
          <a:p>
            <a:pPr marL="0" indent="0" algn="l">
              <a:buNone/>
            </a:pPr>
            <a:r>
              <a:rPr lang="en-US" sz="700" b="1" dirty="0">
                <a:solidFill>
                  <a:srgbClr val="0F766E"/>
                </a:solidFill>
                <a:latin typeface="Montserrat Black" pitchFamily="34" charset="0"/>
                <a:ea typeface="Montserrat Black" pitchFamily="34" charset="-122"/>
                <a:cs typeface="Montserrat Black" pitchFamily="34" charset="-120"/>
              </a:rPr>
              <a:t>PHYSICAL EVIDENCE</a:t>
            </a:r>
            <a:endParaRPr lang="en-US" sz="700" dirty="0"/>
          </a:p>
        </p:txBody>
      </p:sp>
      <p:sp>
        <p:nvSpPr>
          <p:cNvPr id="33" name="Text 22"/>
          <p:cNvSpPr/>
          <p:nvPr/>
        </p:nvSpPr>
        <p:spPr>
          <a:xfrm>
            <a:off x="571500" y="4607719"/>
            <a:ext cx="4500563" cy="130011"/>
          </a:xfrm>
          <a:prstGeom prst="rect">
            <a:avLst/>
          </a:prstGeom>
          <a:noFill/>
          <a:ln/>
        </p:spPr>
        <p:txBody>
          <a:bodyPr wrap="none" lIns="0" tIns="0" rIns="0" bIns="0" rtlCol="0" anchor="t">
            <a:spAutoFit/>
          </a:bodyPr>
          <a:lstStyle/>
          <a:p>
            <a:pPr marL="0" indent="0" algn="l">
              <a:lnSpc>
                <a:spcPct val="112000"/>
              </a:lnSpc>
              <a:buNone/>
            </a:pPr>
            <a:r>
              <a:rPr lang="en-US" sz="650" dirty="0">
                <a:solidFill>
                  <a:srgbClr val="001B3A"/>
                </a:solidFill>
                <a:latin typeface="Montserrat Medium" pitchFamily="34" charset="0"/>
                <a:ea typeface="Montserrat Medium" pitchFamily="34" charset="-122"/>
                <a:cs typeface="Montserrat Medium" pitchFamily="34" charset="-120"/>
              </a:rPr>
              <a:t>Modern LED displays in-store, organized website, and attractive, high-quality packaging.</a:t>
            </a:r>
            <a:endParaRPr lang="en-US" sz="650" dirty="0"/>
          </a:p>
        </p:txBody>
      </p:sp>
      <p:pic>
        <p:nvPicPr>
          <p:cNvPr id="34" name="Image 9" descr="preencoded.png"/>
          <p:cNvPicPr>
            <a:picLocks noChangeAspect="1"/>
          </p:cNvPicPr>
          <p:nvPr/>
        </p:nvPicPr>
        <p:blipFill>
          <a:blip r:embed="rId12"/>
          <a:stretch>
            <a:fillRect/>
          </a:stretch>
        </p:blipFill>
        <p:spPr>
          <a:xfrm>
            <a:off x="5500688" y="857250"/>
            <a:ext cx="3214688" cy="3214688"/>
          </a:xfrm>
          <a:prstGeom prst="rect">
            <a:avLst/>
          </a:prstGeom>
        </p:spPr>
      </p:pic>
      <p:pic>
        <p:nvPicPr>
          <p:cNvPr id="35" name="Image 10" descr="preencoded.png"/>
          <p:cNvPicPr>
            <a:picLocks noChangeAspect="1"/>
          </p:cNvPicPr>
          <p:nvPr/>
        </p:nvPicPr>
        <p:blipFill>
          <a:blip r:embed="rId13"/>
          <a:stretch>
            <a:fillRect/>
          </a:stretch>
        </p:blipFill>
        <p:spPr>
          <a:xfrm>
            <a:off x="5500688" y="4214813"/>
            <a:ext cx="1535906" cy="857250"/>
          </a:xfrm>
          <a:prstGeom prst="rect">
            <a:avLst/>
          </a:prstGeom>
        </p:spPr>
      </p:pic>
      <p:pic>
        <p:nvPicPr>
          <p:cNvPr id="36" name="Image 11" descr="preencoded.png"/>
          <p:cNvPicPr>
            <a:picLocks noChangeAspect="1"/>
          </p:cNvPicPr>
          <p:nvPr/>
        </p:nvPicPr>
        <p:blipFill>
          <a:blip r:embed="rId14"/>
          <a:stretch>
            <a:fillRect/>
          </a:stretch>
        </p:blipFill>
        <p:spPr>
          <a:xfrm>
            <a:off x="7179469" y="4214813"/>
            <a:ext cx="1535906" cy="8572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285750"/>
            <a:ext cx="357188" cy="357188"/>
          </a:xfrm>
          <a:prstGeom prst="ellipse">
            <a:avLst/>
          </a:prstGeom>
          <a:solidFill>
            <a:srgbClr val="0F766E">
              <a:alpha val="15000"/>
            </a:srgbClr>
          </a:solidFill>
          <a:ln/>
        </p:spPr>
      </p:sp>
      <p:pic>
        <p:nvPicPr>
          <p:cNvPr id="4" name="Image 1" descr="preencoded.png"/>
          <p:cNvPicPr>
            <a:picLocks noChangeAspect="1"/>
          </p:cNvPicPr>
          <p:nvPr/>
        </p:nvPicPr>
        <p:blipFill>
          <a:blip r:embed="rId4"/>
          <a:stretch>
            <a:fillRect/>
          </a:stretch>
        </p:blipFill>
        <p:spPr>
          <a:xfrm>
            <a:off x="535781" y="392906"/>
            <a:ext cx="142875" cy="142875"/>
          </a:xfrm>
          <a:prstGeom prst="rect">
            <a:avLst/>
          </a:prstGeom>
        </p:spPr>
      </p:pic>
      <p:sp>
        <p:nvSpPr>
          <p:cNvPr id="5" name="Text 1"/>
          <p:cNvSpPr/>
          <p:nvPr/>
        </p:nvSpPr>
        <p:spPr>
          <a:xfrm>
            <a:off x="928688" y="325041"/>
            <a:ext cx="3291483" cy="278606"/>
          </a:xfrm>
          <a:prstGeom prst="rect">
            <a:avLst/>
          </a:prstGeom>
          <a:noFill/>
          <a:ln/>
        </p:spPr>
        <p:txBody>
          <a:bodyPr wrap="square" lIns="0" tIns="0" rIns="0" bIns="0" rtlCol="0" anchor="t">
            <a:spAutoFit/>
          </a:bodyPr>
          <a:lstStyle/>
          <a:p>
            <a:pPr marL="0" indent="0" algn="l">
              <a:buNone/>
            </a:pPr>
            <a:r>
              <a:rPr lang="en-US" sz="1600" b="1" dirty="0">
                <a:solidFill>
                  <a:srgbClr val="001B3A"/>
                </a:solidFill>
                <a:latin typeface="Montserrat Black" pitchFamily="34" charset="0"/>
                <a:ea typeface="Montserrat Black" pitchFamily="34" charset="-122"/>
                <a:cs typeface="Montserrat Black" pitchFamily="34" charset="-120"/>
              </a:rPr>
              <a:t>BUSINESS MODEL CANVAS</a:t>
            </a:r>
            <a:endParaRPr lang="en-US" sz="1600" dirty="0"/>
          </a:p>
        </p:txBody>
      </p:sp>
      <p:sp>
        <p:nvSpPr>
          <p:cNvPr id="6" name="Shape 2"/>
          <p:cNvSpPr/>
          <p:nvPr/>
        </p:nvSpPr>
        <p:spPr>
          <a:xfrm>
            <a:off x="428625" y="785813"/>
            <a:ext cx="1588759" cy="1578769"/>
          </a:xfrm>
          <a:prstGeom prst="rect">
            <a:avLst/>
          </a:prstGeom>
          <a:solidFill>
            <a:srgbClr val="FFFFFF"/>
          </a:solidFill>
          <a:ln/>
        </p:spPr>
      </p:sp>
      <p:pic>
        <p:nvPicPr>
          <p:cNvPr id="7" name="Image 2" descr="preencoded.png"/>
          <p:cNvPicPr>
            <a:picLocks noChangeAspect="1"/>
          </p:cNvPicPr>
          <p:nvPr/>
        </p:nvPicPr>
        <p:blipFill>
          <a:blip r:embed="rId5"/>
          <a:stretch>
            <a:fillRect/>
          </a:stretch>
        </p:blipFill>
        <p:spPr>
          <a:xfrm>
            <a:off x="535781" y="901898"/>
            <a:ext cx="98227" cy="78581"/>
          </a:xfrm>
          <a:prstGeom prst="rect">
            <a:avLst/>
          </a:prstGeom>
        </p:spPr>
      </p:pic>
      <p:sp>
        <p:nvSpPr>
          <p:cNvPr id="8" name="Text 3"/>
          <p:cNvSpPr/>
          <p:nvPr/>
        </p:nvSpPr>
        <p:spPr>
          <a:xfrm>
            <a:off x="676870" y="892969"/>
            <a:ext cx="648295"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KEY PARTNERS</a:t>
            </a:r>
            <a:endParaRPr lang="en-US" sz="550" dirty="0"/>
          </a:p>
        </p:txBody>
      </p:sp>
      <p:sp>
        <p:nvSpPr>
          <p:cNvPr id="9" name="Shape 4"/>
          <p:cNvSpPr/>
          <p:nvPr/>
        </p:nvSpPr>
        <p:spPr>
          <a:xfrm>
            <a:off x="535781" y="1082278"/>
            <a:ext cx="21431" cy="21431"/>
          </a:xfrm>
          <a:prstGeom prst="ellipse">
            <a:avLst/>
          </a:prstGeom>
          <a:solidFill>
            <a:srgbClr val="0F766E"/>
          </a:solidFill>
          <a:ln/>
        </p:spPr>
      </p:sp>
      <p:sp>
        <p:nvSpPr>
          <p:cNvPr id="10" name="Text 5"/>
          <p:cNvSpPr/>
          <p:nvPr/>
        </p:nvSpPr>
        <p:spPr>
          <a:xfrm>
            <a:off x="535781" y="1046559"/>
            <a:ext cx="1374446" cy="185738"/>
          </a:xfrm>
          <a:prstGeom prst="rect">
            <a:avLst/>
          </a:prstGeom>
          <a:noFill/>
          <a:ln/>
        </p:spPr>
        <p:txBody>
          <a:bodyPr wrap="squar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Factories: Family Home, Jacour, El Basha</a:t>
            </a:r>
            <a:endParaRPr lang="en-US" sz="500" dirty="0"/>
          </a:p>
        </p:txBody>
      </p:sp>
      <p:sp>
        <p:nvSpPr>
          <p:cNvPr id="11" name="Shape 6"/>
          <p:cNvSpPr/>
          <p:nvPr/>
        </p:nvSpPr>
        <p:spPr>
          <a:xfrm>
            <a:off x="535781" y="1296591"/>
            <a:ext cx="21431" cy="21431"/>
          </a:xfrm>
          <a:prstGeom prst="ellipse">
            <a:avLst/>
          </a:prstGeom>
          <a:solidFill>
            <a:srgbClr val="0F766E"/>
          </a:solidFill>
          <a:ln/>
        </p:spPr>
      </p:sp>
      <p:sp>
        <p:nvSpPr>
          <p:cNvPr id="12" name="Text 7"/>
          <p:cNvSpPr/>
          <p:nvPr/>
        </p:nvSpPr>
        <p:spPr>
          <a:xfrm>
            <a:off x="535781" y="1260872"/>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Shipping: Bosta</a:t>
            </a:r>
            <a:endParaRPr lang="en-US" sz="500" dirty="0"/>
          </a:p>
        </p:txBody>
      </p:sp>
      <p:sp>
        <p:nvSpPr>
          <p:cNvPr id="13" name="Shape 8"/>
          <p:cNvSpPr/>
          <p:nvPr/>
        </p:nvSpPr>
        <p:spPr>
          <a:xfrm>
            <a:off x="535781" y="1418034"/>
            <a:ext cx="21431" cy="21431"/>
          </a:xfrm>
          <a:prstGeom prst="ellipse">
            <a:avLst/>
          </a:prstGeom>
          <a:solidFill>
            <a:srgbClr val="0F766E"/>
          </a:solidFill>
          <a:ln/>
        </p:spPr>
      </p:sp>
      <p:sp>
        <p:nvSpPr>
          <p:cNvPr id="14" name="Text 9"/>
          <p:cNvSpPr/>
          <p:nvPr/>
        </p:nvSpPr>
        <p:spPr>
          <a:xfrm>
            <a:off x="535781" y="1382316"/>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E-commerce Platforms</a:t>
            </a:r>
            <a:endParaRPr lang="en-US" sz="500" dirty="0"/>
          </a:p>
        </p:txBody>
      </p:sp>
      <p:sp>
        <p:nvSpPr>
          <p:cNvPr id="15" name="Shape 10"/>
          <p:cNvSpPr/>
          <p:nvPr/>
        </p:nvSpPr>
        <p:spPr>
          <a:xfrm>
            <a:off x="535781" y="1539478"/>
            <a:ext cx="21431" cy="21431"/>
          </a:xfrm>
          <a:prstGeom prst="ellipse">
            <a:avLst/>
          </a:prstGeom>
          <a:solidFill>
            <a:srgbClr val="0F766E"/>
          </a:solidFill>
          <a:ln/>
        </p:spPr>
      </p:sp>
      <p:sp>
        <p:nvSpPr>
          <p:cNvPr id="16" name="Text 11"/>
          <p:cNvSpPr/>
          <p:nvPr/>
        </p:nvSpPr>
        <p:spPr>
          <a:xfrm>
            <a:off x="535781" y="1503759"/>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Retail Partners (Carrefour, Shahin)</a:t>
            </a:r>
            <a:endParaRPr lang="en-US" sz="500" dirty="0"/>
          </a:p>
        </p:txBody>
      </p:sp>
      <p:sp>
        <p:nvSpPr>
          <p:cNvPr id="17" name="Shape 12"/>
          <p:cNvSpPr/>
          <p:nvPr/>
        </p:nvSpPr>
        <p:spPr>
          <a:xfrm>
            <a:off x="2103109" y="785813"/>
            <a:ext cx="1588759" cy="746522"/>
          </a:xfrm>
          <a:prstGeom prst="rect">
            <a:avLst/>
          </a:prstGeom>
          <a:solidFill>
            <a:srgbClr val="FFFFFF"/>
          </a:solidFill>
          <a:ln/>
        </p:spPr>
      </p:sp>
      <p:pic>
        <p:nvPicPr>
          <p:cNvPr id="18" name="Image 3" descr="preencoded.png"/>
          <p:cNvPicPr>
            <a:picLocks noChangeAspect="1"/>
          </p:cNvPicPr>
          <p:nvPr/>
        </p:nvPicPr>
        <p:blipFill>
          <a:blip r:embed="rId6"/>
          <a:stretch>
            <a:fillRect/>
          </a:stretch>
        </p:blipFill>
        <p:spPr>
          <a:xfrm>
            <a:off x="2210265" y="901898"/>
            <a:ext cx="78581" cy="78581"/>
          </a:xfrm>
          <a:prstGeom prst="rect">
            <a:avLst/>
          </a:prstGeom>
        </p:spPr>
      </p:pic>
      <p:sp>
        <p:nvSpPr>
          <p:cNvPr id="19" name="Text 13"/>
          <p:cNvSpPr/>
          <p:nvPr/>
        </p:nvSpPr>
        <p:spPr>
          <a:xfrm>
            <a:off x="2331709" y="892969"/>
            <a:ext cx="660797"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KEY ACTIVITIES</a:t>
            </a:r>
            <a:endParaRPr lang="en-US" sz="550" dirty="0"/>
          </a:p>
        </p:txBody>
      </p:sp>
      <p:sp>
        <p:nvSpPr>
          <p:cNvPr id="20" name="Shape 14"/>
          <p:cNvSpPr/>
          <p:nvPr/>
        </p:nvSpPr>
        <p:spPr>
          <a:xfrm>
            <a:off x="2210265" y="1082278"/>
            <a:ext cx="21431" cy="21431"/>
          </a:xfrm>
          <a:prstGeom prst="ellipse">
            <a:avLst/>
          </a:prstGeom>
          <a:solidFill>
            <a:srgbClr val="0F766E"/>
          </a:solidFill>
          <a:ln/>
        </p:spPr>
      </p:sp>
      <p:sp>
        <p:nvSpPr>
          <p:cNvPr id="21" name="Text 15"/>
          <p:cNvSpPr/>
          <p:nvPr/>
        </p:nvSpPr>
        <p:spPr>
          <a:xfrm>
            <a:off x="2210265" y="1046559"/>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Digital Marketing</a:t>
            </a:r>
            <a:endParaRPr lang="en-US" sz="500" dirty="0"/>
          </a:p>
        </p:txBody>
      </p:sp>
      <p:sp>
        <p:nvSpPr>
          <p:cNvPr id="22" name="Shape 16"/>
          <p:cNvSpPr/>
          <p:nvPr/>
        </p:nvSpPr>
        <p:spPr>
          <a:xfrm>
            <a:off x="2210265" y="1203722"/>
            <a:ext cx="21431" cy="21431"/>
          </a:xfrm>
          <a:prstGeom prst="ellipse">
            <a:avLst/>
          </a:prstGeom>
          <a:solidFill>
            <a:srgbClr val="0F766E"/>
          </a:solidFill>
          <a:ln/>
        </p:spPr>
      </p:sp>
      <p:sp>
        <p:nvSpPr>
          <p:cNvPr id="23" name="Text 17"/>
          <p:cNvSpPr/>
          <p:nvPr/>
        </p:nvSpPr>
        <p:spPr>
          <a:xfrm>
            <a:off x="2210265" y="1168003"/>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Shipment Tracking</a:t>
            </a:r>
            <a:endParaRPr lang="en-US" sz="500" dirty="0"/>
          </a:p>
        </p:txBody>
      </p:sp>
      <p:sp>
        <p:nvSpPr>
          <p:cNvPr id="24" name="Shape 18"/>
          <p:cNvSpPr/>
          <p:nvPr/>
        </p:nvSpPr>
        <p:spPr>
          <a:xfrm>
            <a:off x="2210265" y="1325166"/>
            <a:ext cx="21431" cy="21431"/>
          </a:xfrm>
          <a:prstGeom prst="ellipse">
            <a:avLst/>
          </a:prstGeom>
          <a:solidFill>
            <a:srgbClr val="0F766E"/>
          </a:solidFill>
          <a:ln/>
        </p:spPr>
      </p:sp>
      <p:sp>
        <p:nvSpPr>
          <p:cNvPr id="25" name="Text 19"/>
          <p:cNvSpPr/>
          <p:nvPr/>
        </p:nvSpPr>
        <p:spPr>
          <a:xfrm>
            <a:off x="2210265" y="1289447"/>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Order Management</a:t>
            </a:r>
            <a:endParaRPr lang="en-US" sz="500" dirty="0"/>
          </a:p>
        </p:txBody>
      </p:sp>
      <p:sp>
        <p:nvSpPr>
          <p:cNvPr id="26" name="Shape 20"/>
          <p:cNvSpPr/>
          <p:nvPr/>
        </p:nvSpPr>
        <p:spPr>
          <a:xfrm>
            <a:off x="2210265" y="1446609"/>
            <a:ext cx="21431" cy="21431"/>
          </a:xfrm>
          <a:prstGeom prst="ellipse">
            <a:avLst/>
          </a:prstGeom>
          <a:solidFill>
            <a:srgbClr val="0F766E"/>
          </a:solidFill>
          <a:ln/>
        </p:spPr>
      </p:sp>
      <p:sp>
        <p:nvSpPr>
          <p:cNvPr id="27" name="Text 21"/>
          <p:cNvSpPr/>
          <p:nvPr/>
        </p:nvSpPr>
        <p:spPr>
          <a:xfrm>
            <a:off x="2210265" y="1410891"/>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Product Manufacturing</a:t>
            </a:r>
            <a:endParaRPr lang="en-US" sz="500" dirty="0"/>
          </a:p>
        </p:txBody>
      </p:sp>
      <p:sp>
        <p:nvSpPr>
          <p:cNvPr id="28" name="Shape 22"/>
          <p:cNvSpPr/>
          <p:nvPr/>
        </p:nvSpPr>
        <p:spPr>
          <a:xfrm>
            <a:off x="3777593" y="785813"/>
            <a:ext cx="1588787" cy="1578769"/>
          </a:xfrm>
          <a:prstGeom prst="rect">
            <a:avLst/>
          </a:prstGeom>
          <a:solidFill>
            <a:srgbClr val="FFFFFF"/>
          </a:solidFill>
          <a:ln/>
        </p:spPr>
      </p:sp>
      <p:pic>
        <p:nvPicPr>
          <p:cNvPr id="29" name="Image 4" descr="preencoded.png"/>
          <p:cNvPicPr>
            <a:picLocks noChangeAspect="1"/>
          </p:cNvPicPr>
          <p:nvPr/>
        </p:nvPicPr>
        <p:blipFill>
          <a:blip r:embed="rId7"/>
          <a:stretch>
            <a:fillRect/>
          </a:stretch>
        </p:blipFill>
        <p:spPr>
          <a:xfrm>
            <a:off x="3884749" y="901898"/>
            <a:ext cx="78581" cy="78581"/>
          </a:xfrm>
          <a:prstGeom prst="rect">
            <a:avLst/>
          </a:prstGeom>
        </p:spPr>
      </p:pic>
      <p:sp>
        <p:nvSpPr>
          <p:cNvPr id="30" name="Text 23"/>
          <p:cNvSpPr/>
          <p:nvPr/>
        </p:nvSpPr>
        <p:spPr>
          <a:xfrm>
            <a:off x="4006193" y="892969"/>
            <a:ext cx="955477"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VALUE PROPOSITIONS</a:t>
            </a:r>
            <a:endParaRPr lang="en-US" sz="550" dirty="0"/>
          </a:p>
        </p:txBody>
      </p:sp>
      <p:sp>
        <p:nvSpPr>
          <p:cNvPr id="31" name="Shape 24"/>
          <p:cNvSpPr/>
          <p:nvPr/>
        </p:nvSpPr>
        <p:spPr>
          <a:xfrm>
            <a:off x="3884749" y="1082278"/>
            <a:ext cx="21431" cy="21431"/>
          </a:xfrm>
          <a:prstGeom prst="ellipse">
            <a:avLst/>
          </a:prstGeom>
          <a:solidFill>
            <a:srgbClr val="0F766E"/>
          </a:solidFill>
          <a:ln/>
        </p:spPr>
      </p:sp>
      <p:sp>
        <p:nvSpPr>
          <p:cNvPr id="32" name="Text 25"/>
          <p:cNvSpPr/>
          <p:nvPr/>
        </p:nvSpPr>
        <p:spPr>
          <a:xfrm>
            <a:off x="3884749" y="1046559"/>
            <a:ext cx="1374474"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Healthy Granite Technology</a:t>
            </a:r>
            <a:endParaRPr lang="en-US" sz="500" dirty="0"/>
          </a:p>
        </p:txBody>
      </p:sp>
      <p:sp>
        <p:nvSpPr>
          <p:cNvPr id="33" name="Shape 26"/>
          <p:cNvSpPr/>
          <p:nvPr/>
        </p:nvSpPr>
        <p:spPr>
          <a:xfrm>
            <a:off x="3884749" y="1203722"/>
            <a:ext cx="21431" cy="21431"/>
          </a:xfrm>
          <a:prstGeom prst="ellipse">
            <a:avLst/>
          </a:prstGeom>
          <a:solidFill>
            <a:srgbClr val="0F766E"/>
          </a:solidFill>
          <a:ln/>
        </p:spPr>
      </p:sp>
      <p:sp>
        <p:nvSpPr>
          <p:cNvPr id="34" name="Text 27"/>
          <p:cNvSpPr/>
          <p:nvPr/>
        </p:nvSpPr>
        <p:spPr>
          <a:xfrm>
            <a:off x="3884749" y="1168003"/>
            <a:ext cx="1374474"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Affordable Premium Pricing</a:t>
            </a:r>
            <a:endParaRPr lang="en-US" sz="500" dirty="0"/>
          </a:p>
        </p:txBody>
      </p:sp>
      <p:sp>
        <p:nvSpPr>
          <p:cNvPr id="35" name="Shape 28"/>
          <p:cNvSpPr/>
          <p:nvPr/>
        </p:nvSpPr>
        <p:spPr>
          <a:xfrm>
            <a:off x="3884749" y="1325166"/>
            <a:ext cx="21431" cy="21431"/>
          </a:xfrm>
          <a:prstGeom prst="ellipse">
            <a:avLst/>
          </a:prstGeom>
          <a:solidFill>
            <a:srgbClr val="0F766E"/>
          </a:solidFill>
          <a:ln/>
        </p:spPr>
      </p:sp>
      <p:sp>
        <p:nvSpPr>
          <p:cNvPr id="36" name="Text 29"/>
          <p:cNvSpPr/>
          <p:nvPr/>
        </p:nvSpPr>
        <p:spPr>
          <a:xfrm>
            <a:off x="3884749" y="1289447"/>
            <a:ext cx="1374474"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Modern Aesthetic Designs</a:t>
            </a:r>
            <a:endParaRPr lang="en-US" sz="500" dirty="0"/>
          </a:p>
        </p:txBody>
      </p:sp>
      <p:sp>
        <p:nvSpPr>
          <p:cNvPr id="37" name="Shape 30"/>
          <p:cNvSpPr/>
          <p:nvPr/>
        </p:nvSpPr>
        <p:spPr>
          <a:xfrm>
            <a:off x="3884749" y="1446609"/>
            <a:ext cx="21431" cy="21431"/>
          </a:xfrm>
          <a:prstGeom prst="ellipse">
            <a:avLst/>
          </a:prstGeom>
          <a:solidFill>
            <a:srgbClr val="0F766E"/>
          </a:solidFill>
          <a:ln/>
        </p:spPr>
      </p:sp>
      <p:sp>
        <p:nvSpPr>
          <p:cNvPr id="38" name="Text 31"/>
          <p:cNvSpPr/>
          <p:nvPr/>
        </p:nvSpPr>
        <p:spPr>
          <a:xfrm>
            <a:off x="3884749" y="1410891"/>
            <a:ext cx="1374474"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Strong Practical Performance</a:t>
            </a:r>
            <a:endParaRPr lang="en-US" sz="500" dirty="0"/>
          </a:p>
        </p:txBody>
      </p:sp>
      <p:sp>
        <p:nvSpPr>
          <p:cNvPr id="39" name="Shape 32"/>
          <p:cNvSpPr/>
          <p:nvPr/>
        </p:nvSpPr>
        <p:spPr>
          <a:xfrm>
            <a:off x="3884749" y="1568053"/>
            <a:ext cx="21431" cy="21431"/>
          </a:xfrm>
          <a:prstGeom prst="ellipse">
            <a:avLst/>
          </a:prstGeom>
          <a:solidFill>
            <a:srgbClr val="0F766E"/>
          </a:solidFill>
          <a:ln/>
        </p:spPr>
      </p:sp>
      <p:sp>
        <p:nvSpPr>
          <p:cNvPr id="40" name="Text 33"/>
          <p:cNvSpPr/>
          <p:nvPr/>
        </p:nvSpPr>
        <p:spPr>
          <a:xfrm>
            <a:off x="3884749" y="1532334"/>
            <a:ext cx="1374474"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Efficient Heat Distribution</a:t>
            </a:r>
            <a:endParaRPr lang="en-US" sz="500" dirty="0"/>
          </a:p>
        </p:txBody>
      </p:sp>
      <p:sp>
        <p:nvSpPr>
          <p:cNvPr id="41" name="Shape 34"/>
          <p:cNvSpPr/>
          <p:nvPr/>
        </p:nvSpPr>
        <p:spPr>
          <a:xfrm>
            <a:off x="5452104" y="785813"/>
            <a:ext cx="1588759" cy="746522"/>
          </a:xfrm>
          <a:prstGeom prst="rect">
            <a:avLst/>
          </a:prstGeom>
          <a:solidFill>
            <a:srgbClr val="FFFFFF"/>
          </a:solidFill>
          <a:ln/>
        </p:spPr>
      </p:sp>
      <p:pic>
        <p:nvPicPr>
          <p:cNvPr id="42" name="Image 5" descr="preencoded.png"/>
          <p:cNvPicPr>
            <a:picLocks noChangeAspect="1"/>
          </p:cNvPicPr>
          <p:nvPr/>
        </p:nvPicPr>
        <p:blipFill>
          <a:blip r:embed="rId8"/>
          <a:stretch>
            <a:fillRect/>
          </a:stretch>
        </p:blipFill>
        <p:spPr>
          <a:xfrm>
            <a:off x="5559261" y="901898"/>
            <a:ext cx="78581" cy="78581"/>
          </a:xfrm>
          <a:prstGeom prst="rect">
            <a:avLst/>
          </a:prstGeom>
        </p:spPr>
      </p:pic>
      <p:sp>
        <p:nvSpPr>
          <p:cNvPr id="43" name="Text 35"/>
          <p:cNvSpPr/>
          <p:nvPr/>
        </p:nvSpPr>
        <p:spPr>
          <a:xfrm>
            <a:off x="5680704" y="892969"/>
            <a:ext cx="678656"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RELATIONSHIPS</a:t>
            </a:r>
            <a:endParaRPr lang="en-US" sz="550" dirty="0"/>
          </a:p>
        </p:txBody>
      </p:sp>
      <p:sp>
        <p:nvSpPr>
          <p:cNvPr id="44" name="Shape 36"/>
          <p:cNvSpPr/>
          <p:nvPr/>
        </p:nvSpPr>
        <p:spPr>
          <a:xfrm>
            <a:off x="5559261" y="1082278"/>
            <a:ext cx="21431" cy="21431"/>
          </a:xfrm>
          <a:prstGeom prst="ellipse">
            <a:avLst/>
          </a:prstGeom>
          <a:solidFill>
            <a:srgbClr val="0F766E"/>
          </a:solidFill>
          <a:ln/>
        </p:spPr>
      </p:sp>
      <p:sp>
        <p:nvSpPr>
          <p:cNvPr id="45" name="Text 37"/>
          <p:cNvSpPr/>
          <p:nvPr/>
        </p:nvSpPr>
        <p:spPr>
          <a:xfrm>
            <a:off x="5559261" y="1046559"/>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Direct Social Engagement</a:t>
            </a:r>
            <a:endParaRPr lang="en-US" sz="500" dirty="0"/>
          </a:p>
        </p:txBody>
      </p:sp>
      <p:sp>
        <p:nvSpPr>
          <p:cNvPr id="46" name="Shape 38"/>
          <p:cNvSpPr/>
          <p:nvPr/>
        </p:nvSpPr>
        <p:spPr>
          <a:xfrm>
            <a:off x="5559261" y="1203722"/>
            <a:ext cx="21431" cy="21431"/>
          </a:xfrm>
          <a:prstGeom prst="ellipse">
            <a:avLst/>
          </a:prstGeom>
          <a:solidFill>
            <a:srgbClr val="0F766E"/>
          </a:solidFill>
          <a:ln/>
        </p:spPr>
      </p:sp>
      <p:sp>
        <p:nvSpPr>
          <p:cNvPr id="47" name="Text 39"/>
          <p:cNvSpPr/>
          <p:nvPr/>
        </p:nvSpPr>
        <p:spPr>
          <a:xfrm>
            <a:off x="5559261" y="1168003"/>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After-sales Support</a:t>
            </a:r>
            <a:endParaRPr lang="en-US" sz="500" dirty="0"/>
          </a:p>
        </p:txBody>
      </p:sp>
      <p:sp>
        <p:nvSpPr>
          <p:cNvPr id="48" name="Shape 40"/>
          <p:cNvSpPr/>
          <p:nvPr/>
        </p:nvSpPr>
        <p:spPr>
          <a:xfrm>
            <a:off x="5559261" y="1325166"/>
            <a:ext cx="21431" cy="21431"/>
          </a:xfrm>
          <a:prstGeom prst="ellipse">
            <a:avLst/>
          </a:prstGeom>
          <a:solidFill>
            <a:srgbClr val="0F766E"/>
          </a:solidFill>
          <a:ln/>
        </p:spPr>
      </p:sp>
      <p:sp>
        <p:nvSpPr>
          <p:cNvPr id="49" name="Text 41"/>
          <p:cNvSpPr/>
          <p:nvPr/>
        </p:nvSpPr>
        <p:spPr>
          <a:xfrm>
            <a:off x="5559261" y="1289447"/>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Personalized In-store Service</a:t>
            </a:r>
            <a:endParaRPr lang="en-US" sz="500" dirty="0"/>
          </a:p>
        </p:txBody>
      </p:sp>
      <p:sp>
        <p:nvSpPr>
          <p:cNvPr id="50" name="Shape 42"/>
          <p:cNvSpPr/>
          <p:nvPr/>
        </p:nvSpPr>
        <p:spPr>
          <a:xfrm>
            <a:off x="5559261" y="1446609"/>
            <a:ext cx="21431" cy="21431"/>
          </a:xfrm>
          <a:prstGeom prst="ellipse">
            <a:avLst/>
          </a:prstGeom>
          <a:solidFill>
            <a:srgbClr val="0F766E"/>
          </a:solidFill>
          <a:ln/>
        </p:spPr>
      </p:sp>
      <p:sp>
        <p:nvSpPr>
          <p:cNvPr id="51" name="Text 43"/>
          <p:cNvSpPr/>
          <p:nvPr/>
        </p:nvSpPr>
        <p:spPr>
          <a:xfrm>
            <a:off x="5559261" y="1410891"/>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Warranty &amp; Returns</a:t>
            </a:r>
            <a:endParaRPr lang="en-US" sz="500" dirty="0"/>
          </a:p>
        </p:txBody>
      </p:sp>
      <p:sp>
        <p:nvSpPr>
          <p:cNvPr id="52" name="Shape 44"/>
          <p:cNvSpPr/>
          <p:nvPr/>
        </p:nvSpPr>
        <p:spPr>
          <a:xfrm>
            <a:off x="7126588" y="785813"/>
            <a:ext cx="1588759" cy="1578769"/>
          </a:xfrm>
          <a:prstGeom prst="rect">
            <a:avLst/>
          </a:prstGeom>
          <a:solidFill>
            <a:srgbClr val="FFFFFF"/>
          </a:solidFill>
          <a:ln/>
        </p:spPr>
      </p:sp>
      <p:pic>
        <p:nvPicPr>
          <p:cNvPr id="53" name="Image 6" descr="preencoded.png"/>
          <p:cNvPicPr>
            <a:picLocks noChangeAspect="1"/>
          </p:cNvPicPr>
          <p:nvPr/>
        </p:nvPicPr>
        <p:blipFill>
          <a:blip r:embed="rId9"/>
          <a:stretch>
            <a:fillRect/>
          </a:stretch>
        </p:blipFill>
        <p:spPr>
          <a:xfrm>
            <a:off x="7233745" y="901898"/>
            <a:ext cx="98227" cy="78581"/>
          </a:xfrm>
          <a:prstGeom prst="rect">
            <a:avLst/>
          </a:prstGeom>
        </p:spPr>
      </p:pic>
      <p:sp>
        <p:nvSpPr>
          <p:cNvPr id="54" name="Text 45"/>
          <p:cNvSpPr/>
          <p:nvPr/>
        </p:nvSpPr>
        <p:spPr>
          <a:xfrm>
            <a:off x="7374834" y="892969"/>
            <a:ext cx="460772"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SEGMENTS</a:t>
            </a:r>
            <a:endParaRPr lang="en-US" sz="550" dirty="0"/>
          </a:p>
        </p:txBody>
      </p:sp>
      <p:sp>
        <p:nvSpPr>
          <p:cNvPr id="55" name="Shape 46"/>
          <p:cNvSpPr/>
          <p:nvPr/>
        </p:nvSpPr>
        <p:spPr>
          <a:xfrm>
            <a:off x="7233745" y="1082278"/>
            <a:ext cx="21431" cy="21431"/>
          </a:xfrm>
          <a:prstGeom prst="ellipse">
            <a:avLst/>
          </a:prstGeom>
          <a:solidFill>
            <a:srgbClr val="0F766E"/>
          </a:solidFill>
          <a:ln/>
        </p:spPr>
      </p:sp>
      <p:sp>
        <p:nvSpPr>
          <p:cNvPr id="56" name="Text 47"/>
          <p:cNvSpPr/>
          <p:nvPr/>
        </p:nvSpPr>
        <p:spPr>
          <a:xfrm>
            <a:off x="7233745" y="1046559"/>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Price-sensitive Value Seekers</a:t>
            </a:r>
            <a:endParaRPr lang="en-US" sz="500" dirty="0"/>
          </a:p>
        </p:txBody>
      </p:sp>
      <p:sp>
        <p:nvSpPr>
          <p:cNvPr id="57" name="Shape 48"/>
          <p:cNvSpPr/>
          <p:nvPr/>
        </p:nvSpPr>
        <p:spPr>
          <a:xfrm>
            <a:off x="7233745" y="1203722"/>
            <a:ext cx="21431" cy="21431"/>
          </a:xfrm>
          <a:prstGeom prst="ellipse">
            <a:avLst/>
          </a:prstGeom>
          <a:solidFill>
            <a:srgbClr val="0F766E"/>
          </a:solidFill>
          <a:ln/>
        </p:spPr>
      </p:sp>
      <p:sp>
        <p:nvSpPr>
          <p:cNvPr id="58" name="Text 49"/>
          <p:cNvSpPr/>
          <p:nvPr/>
        </p:nvSpPr>
        <p:spPr>
          <a:xfrm>
            <a:off x="7233745" y="1168003"/>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Quality-focused Families</a:t>
            </a:r>
            <a:endParaRPr lang="en-US" sz="500" dirty="0"/>
          </a:p>
        </p:txBody>
      </p:sp>
      <p:sp>
        <p:nvSpPr>
          <p:cNvPr id="59" name="Shape 50"/>
          <p:cNvSpPr/>
          <p:nvPr/>
        </p:nvSpPr>
        <p:spPr>
          <a:xfrm>
            <a:off x="7233745" y="1325166"/>
            <a:ext cx="21431" cy="21431"/>
          </a:xfrm>
          <a:prstGeom prst="ellipse">
            <a:avLst/>
          </a:prstGeom>
          <a:solidFill>
            <a:srgbClr val="0F766E"/>
          </a:solidFill>
          <a:ln/>
        </p:spPr>
      </p:sp>
      <p:sp>
        <p:nvSpPr>
          <p:cNvPr id="60" name="Text 51"/>
          <p:cNvSpPr/>
          <p:nvPr/>
        </p:nvSpPr>
        <p:spPr>
          <a:xfrm>
            <a:off x="7233745" y="1289447"/>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Modern Brides &amp; Grooms</a:t>
            </a:r>
            <a:endParaRPr lang="en-US" sz="500" dirty="0"/>
          </a:p>
        </p:txBody>
      </p:sp>
      <p:sp>
        <p:nvSpPr>
          <p:cNvPr id="61" name="Shape 52"/>
          <p:cNvSpPr/>
          <p:nvPr/>
        </p:nvSpPr>
        <p:spPr>
          <a:xfrm>
            <a:off x="7233745" y="1446609"/>
            <a:ext cx="21431" cy="21431"/>
          </a:xfrm>
          <a:prstGeom prst="ellipse">
            <a:avLst/>
          </a:prstGeom>
          <a:solidFill>
            <a:srgbClr val="0F766E"/>
          </a:solidFill>
          <a:ln/>
        </p:spPr>
      </p:sp>
      <p:sp>
        <p:nvSpPr>
          <p:cNvPr id="62" name="Text 53"/>
          <p:cNvSpPr/>
          <p:nvPr/>
        </p:nvSpPr>
        <p:spPr>
          <a:xfrm>
            <a:off x="7233745" y="1410891"/>
            <a:ext cx="1374446" cy="185738"/>
          </a:xfrm>
          <a:prstGeom prst="rect">
            <a:avLst/>
          </a:prstGeom>
          <a:noFill/>
          <a:ln/>
        </p:spPr>
        <p:txBody>
          <a:bodyPr wrap="squar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Convenience-focused Online Shoppers</a:t>
            </a:r>
            <a:endParaRPr lang="en-US" sz="500" dirty="0"/>
          </a:p>
        </p:txBody>
      </p:sp>
      <p:sp>
        <p:nvSpPr>
          <p:cNvPr id="63" name="Shape 54"/>
          <p:cNvSpPr/>
          <p:nvPr/>
        </p:nvSpPr>
        <p:spPr>
          <a:xfrm>
            <a:off x="2103109" y="1618059"/>
            <a:ext cx="1588759" cy="746522"/>
          </a:xfrm>
          <a:prstGeom prst="rect">
            <a:avLst/>
          </a:prstGeom>
          <a:solidFill>
            <a:srgbClr val="FFFFFF"/>
          </a:solidFill>
          <a:ln/>
        </p:spPr>
      </p:sp>
      <p:pic>
        <p:nvPicPr>
          <p:cNvPr id="64" name="Image 7" descr="preencoded.png"/>
          <p:cNvPicPr>
            <a:picLocks noChangeAspect="1"/>
          </p:cNvPicPr>
          <p:nvPr/>
        </p:nvPicPr>
        <p:blipFill>
          <a:blip r:embed="rId10"/>
          <a:stretch>
            <a:fillRect/>
          </a:stretch>
        </p:blipFill>
        <p:spPr>
          <a:xfrm>
            <a:off x="2210265" y="1734145"/>
            <a:ext cx="78581" cy="78581"/>
          </a:xfrm>
          <a:prstGeom prst="rect">
            <a:avLst/>
          </a:prstGeom>
        </p:spPr>
      </p:pic>
      <p:sp>
        <p:nvSpPr>
          <p:cNvPr id="65" name="Text 55"/>
          <p:cNvSpPr/>
          <p:nvPr/>
        </p:nvSpPr>
        <p:spPr>
          <a:xfrm>
            <a:off x="2331709" y="1725216"/>
            <a:ext cx="707231"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KEY RESOURCES</a:t>
            </a:r>
            <a:endParaRPr lang="en-US" sz="550" dirty="0"/>
          </a:p>
        </p:txBody>
      </p:sp>
      <p:sp>
        <p:nvSpPr>
          <p:cNvPr id="66" name="Shape 56"/>
          <p:cNvSpPr/>
          <p:nvPr/>
        </p:nvSpPr>
        <p:spPr>
          <a:xfrm>
            <a:off x="2210265" y="1914525"/>
            <a:ext cx="21431" cy="21431"/>
          </a:xfrm>
          <a:prstGeom prst="ellipse">
            <a:avLst/>
          </a:prstGeom>
          <a:solidFill>
            <a:srgbClr val="0F766E"/>
          </a:solidFill>
          <a:ln/>
        </p:spPr>
      </p:sp>
      <p:sp>
        <p:nvSpPr>
          <p:cNvPr id="67" name="Text 57"/>
          <p:cNvSpPr/>
          <p:nvPr/>
        </p:nvSpPr>
        <p:spPr>
          <a:xfrm>
            <a:off x="2210265" y="1878806"/>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Advanced Factories</a:t>
            </a:r>
            <a:endParaRPr lang="en-US" sz="500" dirty="0"/>
          </a:p>
        </p:txBody>
      </p:sp>
      <p:sp>
        <p:nvSpPr>
          <p:cNvPr id="68" name="Shape 58"/>
          <p:cNvSpPr/>
          <p:nvPr/>
        </p:nvSpPr>
        <p:spPr>
          <a:xfrm>
            <a:off x="2210265" y="2035969"/>
            <a:ext cx="21431" cy="21431"/>
          </a:xfrm>
          <a:prstGeom prst="ellipse">
            <a:avLst/>
          </a:prstGeom>
          <a:solidFill>
            <a:srgbClr val="0F766E"/>
          </a:solidFill>
          <a:ln/>
        </p:spPr>
      </p:sp>
      <p:sp>
        <p:nvSpPr>
          <p:cNvPr id="69" name="Text 59"/>
          <p:cNvSpPr/>
          <p:nvPr/>
        </p:nvSpPr>
        <p:spPr>
          <a:xfrm>
            <a:off x="2210265" y="2000250"/>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Proprietary Granite Tech</a:t>
            </a:r>
            <a:endParaRPr lang="en-US" sz="500" dirty="0"/>
          </a:p>
        </p:txBody>
      </p:sp>
      <p:sp>
        <p:nvSpPr>
          <p:cNvPr id="70" name="Shape 60"/>
          <p:cNvSpPr/>
          <p:nvPr/>
        </p:nvSpPr>
        <p:spPr>
          <a:xfrm>
            <a:off x="2210265" y="2157413"/>
            <a:ext cx="21431" cy="21431"/>
          </a:xfrm>
          <a:prstGeom prst="ellipse">
            <a:avLst/>
          </a:prstGeom>
          <a:solidFill>
            <a:srgbClr val="0F766E"/>
          </a:solidFill>
          <a:ln/>
        </p:spPr>
      </p:sp>
      <p:sp>
        <p:nvSpPr>
          <p:cNvPr id="71" name="Text 61"/>
          <p:cNvSpPr/>
          <p:nvPr/>
        </p:nvSpPr>
        <p:spPr>
          <a:xfrm>
            <a:off x="2210265" y="2121694"/>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E-commerce Platform</a:t>
            </a:r>
            <a:endParaRPr lang="en-US" sz="500" dirty="0"/>
          </a:p>
        </p:txBody>
      </p:sp>
      <p:sp>
        <p:nvSpPr>
          <p:cNvPr id="72" name="Shape 62"/>
          <p:cNvSpPr/>
          <p:nvPr/>
        </p:nvSpPr>
        <p:spPr>
          <a:xfrm>
            <a:off x="2210265" y="2278856"/>
            <a:ext cx="21431" cy="21431"/>
          </a:xfrm>
          <a:prstGeom prst="ellipse">
            <a:avLst/>
          </a:prstGeom>
          <a:solidFill>
            <a:srgbClr val="0F766E"/>
          </a:solidFill>
          <a:ln/>
        </p:spPr>
      </p:sp>
      <p:sp>
        <p:nvSpPr>
          <p:cNvPr id="73" name="Text 63"/>
          <p:cNvSpPr/>
          <p:nvPr/>
        </p:nvSpPr>
        <p:spPr>
          <a:xfrm>
            <a:off x="2210265" y="2243138"/>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Inventory Management</a:t>
            </a:r>
            <a:endParaRPr lang="en-US" sz="500" dirty="0"/>
          </a:p>
        </p:txBody>
      </p:sp>
      <p:sp>
        <p:nvSpPr>
          <p:cNvPr id="74" name="Shape 64"/>
          <p:cNvSpPr/>
          <p:nvPr/>
        </p:nvSpPr>
        <p:spPr>
          <a:xfrm>
            <a:off x="5452104" y="1618059"/>
            <a:ext cx="1588759" cy="746522"/>
          </a:xfrm>
          <a:prstGeom prst="rect">
            <a:avLst/>
          </a:prstGeom>
          <a:solidFill>
            <a:srgbClr val="FFFFFF"/>
          </a:solidFill>
          <a:ln/>
        </p:spPr>
      </p:sp>
      <p:pic>
        <p:nvPicPr>
          <p:cNvPr id="75" name="Image 8" descr="preencoded.png"/>
          <p:cNvPicPr>
            <a:picLocks noChangeAspect="1"/>
          </p:cNvPicPr>
          <p:nvPr/>
        </p:nvPicPr>
        <p:blipFill>
          <a:blip r:embed="rId11"/>
          <a:stretch>
            <a:fillRect/>
          </a:stretch>
        </p:blipFill>
        <p:spPr>
          <a:xfrm>
            <a:off x="5559261" y="1734145"/>
            <a:ext cx="98227" cy="78581"/>
          </a:xfrm>
          <a:prstGeom prst="rect">
            <a:avLst/>
          </a:prstGeom>
        </p:spPr>
      </p:pic>
      <p:sp>
        <p:nvSpPr>
          <p:cNvPr id="76" name="Text 65"/>
          <p:cNvSpPr/>
          <p:nvPr/>
        </p:nvSpPr>
        <p:spPr>
          <a:xfrm>
            <a:off x="5700350" y="1725216"/>
            <a:ext cx="460772"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CHANNELS</a:t>
            </a:r>
            <a:endParaRPr lang="en-US" sz="550" dirty="0"/>
          </a:p>
        </p:txBody>
      </p:sp>
      <p:sp>
        <p:nvSpPr>
          <p:cNvPr id="77" name="Shape 66"/>
          <p:cNvSpPr/>
          <p:nvPr/>
        </p:nvSpPr>
        <p:spPr>
          <a:xfrm>
            <a:off x="5559261" y="1914525"/>
            <a:ext cx="21431" cy="21431"/>
          </a:xfrm>
          <a:prstGeom prst="ellipse">
            <a:avLst/>
          </a:prstGeom>
          <a:solidFill>
            <a:srgbClr val="0F766E"/>
          </a:solidFill>
          <a:ln/>
        </p:spPr>
      </p:sp>
      <p:sp>
        <p:nvSpPr>
          <p:cNvPr id="78" name="Text 67"/>
          <p:cNvSpPr/>
          <p:nvPr/>
        </p:nvSpPr>
        <p:spPr>
          <a:xfrm>
            <a:off x="5559261" y="1878806"/>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Social Media (FB, IG, TikTok)</a:t>
            </a:r>
            <a:endParaRPr lang="en-US" sz="500" dirty="0"/>
          </a:p>
        </p:txBody>
      </p:sp>
      <p:sp>
        <p:nvSpPr>
          <p:cNvPr id="79" name="Shape 68"/>
          <p:cNvSpPr/>
          <p:nvPr/>
        </p:nvSpPr>
        <p:spPr>
          <a:xfrm>
            <a:off x="5559261" y="2035969"/>
            <a:ext cx="21431" cy="21431"/>
          </a:xfrm>
          <a:prstGeom prst="ellipse">
            <a:avLst/>
          </a:prstGeom>
          <a:solidFill>
            <a:srgbClr val="0F766E"/>
          </a:solidFill>
          <a:ln/>
        </p:spPr>
      </p:sp>
      <p:sp>
        <p:nvSpPr>
          <p:cNvPr id="80" name="Text 69"/>
          <p:cNvSpPr/>
          <p:nvPr/>
        </p:nvSpPr>
        <p:spPr>
          <a:xfrm>
            <a:off x="5559261" y="2000250"/>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Official Website</a:t>
            </a:r>
            <a:endParaRPr lang="en-US" sz="500" dirty="0"/>
          </a:p>
        </p:txBody>
      </p:sp>
      <p:sp>
        <p:nvSpPr>
          <p:cNvPr id="81" name="Shape 70"/>
          <p:cNvSpPr/>
          <p:nvPr/>
        </p:nvSpPr>
        <p:spPr>
          <a:xfrm>
            <a:off x="5559261" y="2157413"/>
            <a:ext cx="21431" cy="21431"/>
          </a:xfrm>
          <a:prstGeom prst="ellipse">
            <a:avLst/>
          </a:prstGeom>
          <a:solidFill>
            <a:srgbClr val="0F766E"/>
          </a:solidFill>
          <a:ln/>
        </p:spPr>
      </p:sp>
      <p:sp>
        <p:nvSpPr>
          <p:cNvPr id="82" name="Text 71"/>
          <p:cNvSpPr/>
          <p:nvPr/>
        </p:nvSpPr>
        <p:spPr>
          <a:xfrm>
            <a:off x="5559261" y="2121694"/>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Retail Partner Stores</a:t>
            </a:r>
            <a:endParaRPr lang="en-US" sz="500" dirty="0"/>
          </a:p>
        </p:txBody>
      </p:sp>
      <p:sp>
        <p:nvSpPr>
          <p:cNvPr id="83" name="Shape 72"/>
          <p:cNvSpPr/>
          <p:nvPr/>
        </p:nvSpPr>
        <p:spPr>
          <a:xfrm>
            <a:off x="5559261" y="2278856"/>
            <a:ext cx="21431" cy="21431"/>
          </a:xfrm>
          <a:prstGeom prst="ellipse">
            <a:avLst/>
          </a:prstGeom>
          <a:solidFill>
            <a:srgbClr val="0F766E"/>
          </a:solidFill>
          <a:ln/>
        </p:spPr>
      </p:sp>
      <p:sp>
        <p:nvSpPr>
          <p:cNvPr id="84" name="Text 73"/>
          <p:cNvSpPr/>
          <p:nvPr/>
        </p:nvSpPr>
        <p:spPr>
          <a:xfrm>
            <a:off x="5559261" y="2243138"/>
            <a:ext cx="1374446"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WhatsApp Business</a:t>
            </a:r>
            <a:endParaRPr lang="en-US" sz="500" dirty="0"/>
          </a:p>
        </p:txBody>
      </p:sp>
      <p:sp>
        <p:nvSpPr>
          <p:cNvPr id="85" name="Shape 74"/>
          <p:cNvSpPr/>
          <p:nvPr/>
        </p:nvSpPr>
        <p:spPr>
          <a:xfrm>
            <a:off x="428625" y="2450306"/>
            <a:ext cx="3263243" cy="746522"/>
          </a:xfrm>
          <a:prstGeom prst="rect">
            <a:avLst/>
          </a:prstGeom>
          <a:solidFill>
            <a:srgbClr val="FFFFFF"/>
          </a:solidFill>
          <a:ln/>
        </p:spPr>
        <p:txBody>
          <a:bodyPr/>
          <a:lstStyle/>
          <a:p>
            <a:endParaRPr lang="en-US"/>
          </a:p>
        </p:txBody>
      </p:sp>
      <p:pic>
        <p:nvPicPr>
          <p:cNvPr id="86" name="Image 9" descr="preencoded.png"/>
          <p:cNvPicPr>
            <a:picLocks noChangeAspect="1"/>
          </p:cNvPicPr>
          <p:nvPr/>
        </p:nvPicPr>
        <p:blipFill>
          <a:blip r:embed="rId12"/>
          <a:stretch>
            <a:fillRect/>
          </a:stretch>
        </p:blipFill>
        <p:spPr>
          <a:xfrm>
            <a:off x="535781" y="2566392"/>
            <a:ext cx="89297" cy="78581"/>
          </a:xfrm>
          <a:prstGeom prst="rect">
            <a:avLst/>
          </a:prstGeom>
        </p:spPr>
      </p:pic>
      <p:sp>
        <p:nvSpPr>
          <p:cNvPr id="87" name="Text 75"/>
          <p:cNvSpPr/>
          <p:nvPr/>
        </p:nvSpPr>
        <p:spPr>
          <a:xfrm>
            <a:off x="667941" y="2557463"/>
            <a:ext cx="755452"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COST STRUCTURE</a:t>
            </a:r>
            <a:endParaRPr lang="en-US" sz="550" dirty="0"/>
          </a:p>
        </p:txBody>
      </p:sp>
      <p:sp>
        <p:nvSpPr>
          <p:cNvPr id="88" name="Shape 76"/>
          <p:cNvSpPr/>
          <p:nvPr/>
        </p:nvSpPr>
        <p:spPr>
          <a:xfrm>
            <a:off x="535781" y="2746772"/>
            <a:ext cx="21431" cy="21431"/>
          </a:xfrm>
          <a:prstGeom prst="ellipse">
            <a:avLst/>
          </a:prstGeom>
          <a:solidFill>
            <a:srgbClr val="0F766E"/>
          </a:solidFill>
          <a:ln/>
        </p:spPr>
      </p:sp>
      <p:sp>
        <p:nvSpPr>
          <p:cNvPr id="89" name="Text 77"/>
          <p:cNvSpPr/>
          <p:nvPr/>
        </p:nvSpPr>
        <p:spPr>
          <a:xfrm>
            <a:off x="535781" y="2711053"/>
            <a:ext cx="3048930"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Packaging &amp; Salaries</a:t>
            </a:r>
            <a:endParaRPr lang="en-US" sz="500" dirty="0"/>
          </a:p>
        </p:txBody>
      </p:sp>
      <p:sp>
        <p:nvSpPr>
          <p:cNvPr id="90" name="Shape 78"/>
          <p:cNvSpPr/>
          <p:nvPr/>
        </p:nvSpPr>
        <p:spPr>
          <a:xfrm>
            <a:off x="535781" y="2868216"/>
            <a:ext cx="21431" cy="21431"/>
          </a:xfrm>
          <a:prstGeom prst="ellipse">
            <a:avLst/>
          </a:prstGeom>
          <a:solidFill>
            <a:srgbClr val="0F766E"/>
          </a:solidFill>
          <a:ln/>
        </p:spPr>
      </p:sp>
      <p:sp>
        <p:nvSpPr>
          <p:cNvPr id="91" name="Text 79"/>
          <p:cNvSpPr/>
          <p:nvPr/>
        </p:nvSpPr>
        <p:spPr>
          <a:xfrm>
            <a:off x="535781" y="2832497"/>
            <a:ext cx="3048930"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Marketing &amp; Advertising</a:t>
            </a:r>
            <a:endParaRPr lang="en-US" sz="500" dirty="0"/>
          </a:p>
        </p:txBody>
      </p:sp>
      <p:sp>
        <p:nvSpPr>
          <p:cNvPr id="92" name="Shape 80"/>
          <p:cNvSpPr/>
          <p:nvPr/>
        </p:nvSpPr>
        <p:spPr>
          <a:xfrm>
            <a:off x="535781" y="2989659"/>
            <a:ext cx="21431" cy="21431"/>
          </a:xfrm>
          <a:prstGeom prst="ellipse">
            <a:avLst/>
          </a:prstGeom>
          <a:solidFill>
            <a:srgbClr val="0F766E"/>
          </a:solidFill>
          <a:ln/>
        </p:spPr>
      </p:sp>
      <p:sp>
        <p:nvSpPr>
          <p:cNvPr id="93" name="Text 81"/>
          <p:cNvSpPr/>
          <p:nvPr/>
        </p:nvSpPr>
        <p:spPr>
          <a:xfrm>
            <a:off x="535781" y="2953941"/>
            <a:ext cx="3048930"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Shipping &amp; Storage</a:t>
            </a:r>
            <a:endParaRPr lang="en-US" sz="500" dirty="0"/>
          </a:p>
        </p:txBody>
      </p:sp>
      <p:sp>
        <p:nvSpPr>
          <p:cNvPr id="94" name="Shape 82"/>
          <p:cNvSpPr/>
          <p:nvPr/>
        </p:nvSpPr>
        <p:spPr>
          <a:xfrm>
            <a:off x="535781" y="3111103"/>
            <a:ext cx="21431" cy="21431"/>
          </a:xfrm>
          <a:prstGeom prst="ellipse">
            <a:avLst/>
          </a:prstGeom>
          <a:solidFill>
            <a:srgbClr val="0F766E"/>
          </a:solidFill>
          <a:ln/>
        </p:spPr>
      </p:sp>
      <p:sp>
        <p:nvSpPr>
          <p:cNvPr id="95" name="Text 83"/>
          <p:cNvSpPr/>
          <p:nvPr/>
        </p:nvSpPr>
        <p:spPr>
          <a:xfrm>
            <a:off x="535781" y="3075384"/>
            <a:ext cx="3048930"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Manufacturing Costs</a:t>
            </a:r>
            <a:endParaRPr lang="en-US" sz="500" dirty="0"/>
          </a:p>
        </p:txBody>
      </p:sp>
      <p:sp>
        <p:nvSpPr>
          <p:cNvPr id="96" name="Shape 84"/>
          <p:cNvSpPr/>
          <p:nvPr/>
        </p:nvSpPr>
        <p:spPr>
          <a:xfrm>
            <a:off x="3777593" y="2450306"/>
            <a:ext cx="4937754" cy="746522"/>
          </a:xfrm>
          <a:prstGeom prst="rect">
            <a:avLst/>
          </a:prstGeom>
          <a:solidFill>
            <a:srgbClr val="FFFFFF"/>
          </a:solidFill>
          <a:ln/>
        </p:spPr>
      </p:sp>
      <p:pic>
        <p:nvPicPr>
          <p:cNvPr id="97" name="Image 10" descr="preencoded.png"/>
          <p:cNvPicPr>
            <a:picLocks noChangeAspect="1"/>
          </p:cNvPicPr>
          <p:nvPr/>
        </p:nvPicPr>
        <p:blipFill>
          <a:blip r:embed="rId13"/>
          <a:stretch>
            <a:fillRect/>
          </a:stretch>
        </p:blipFill>
        <p:spPr>
          <a:xfrm>
            <a:off x="3884749" y="2566392"/>
            <a:ext cx="78581" cy="78581"/>
          </a:xfrm>
          <a:prstGeom prst="rect">
            <a:avLst/>
          </a:prstGeom>
        </p:spPr>
      </p:pic>
      <p:sp>
        <p:nvSpPr>
          <p:cNvPr id="98" name="Text 85"/>
          <p:cNvSpPr/>
          <p:nvPr/>
        </p:nvSpPr>
        <p:spPr>
          <a:xfrm>
            <a:off x="4006193" y="2557463"/>
            <a:ext cx="834033" cy="96441"/>
          </a:xfrm>
          <a:prstGeom prst="rect">
            <a:avLst/>
          </a:prstGeom>
          <a:noFill/>
          <a:ln/>
        </p:spPr>
        <p:txBody>
          <a:bodyPr wrap="none" lIns="0" tIns="0" rIns="0" bIns="0" rtlCol="0" anchor="t">
            <a:spAutoFit/>
          </a:bodyPr>
          <a:lstStyle/>
          <a:p>
            <a:pPr marL="0" indent="0" algn="l">
              <a:buNone/>
            </a:pPr>
            <a:r>
              <a:rPr lang="en-US" sz="550" b="1" dirty="0">
                <a:solidFill>
                  <a:srgbClr val="0F766E"/>
                </a:solidFill>
                <a:latin typeface="Montserrat Black" pitchFamily="34" charset="0"/>
                <a:ea typeface="Montserrat Black" pitchFamily="34" charset="-122"/>
                <a:cs typeface="Montserrat Black" pitchFamily="34" charset="-120"/>
              </a:rPr>
              <a:t>REVENUE STREAMS</a:t>
            </a:r>
            <a:endParaRPr lang="en-US" sz="550" dirty="0"/>
          </a:p>
        </p:txBody>
      </p:sp>
      <p:sp>
        <p:nvSpPr>
          <p:cNvPr id="99" name="Shape 86"/>
          <p:cNvSpPr/>
          <p:nvPr/>
        </p:nvSpPr>
        <p:spPr>
          <a:xfrm>
            <a:off x="3884749" y="2746772"/>
            <a:ext cx="21431" cy="21431"/>
          </a:xfrm>
          <a:prstGeom prst="ellipse">
            <a:avLst/>
          </a:prstGeom>
          <a:solidFill>
            <a:srgbClr val="0F766E"/>
          </a:solidFill>
          <a:ln/>
        </p:spPr>
      </p:sp>
      <p:sp>
        <p:nvSpPr>
          <p:cNvPr id="100" name="Text 87"/>
          <p:cNvSpPr/>
          <p:nvPr/>
        </p:nvSpPr>
        <p:spPr>
          <a:xfrm>
            <a:off x="3884749" y="2711053"/>
            <a:ext cx="4723442"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Retail Sales via Branches (Hyper, Carrefour, Shahin, El-Morshedy)</a:t>
            </a:r>
            <a:endParaRPr lang="en-US" sz="500" dirty="0"/>
          </a:p>
        </p:txBody>
      </p:sp>
      <p:sp>
        <p:nvSpPr>
          <p:cNvPr id="101" name="Shape 88"/>
          <p:cNvSpPr/>
          <p:nvPr/>
        </p:nvSpPr>
        <p:spPr>
          <a:xfrm>
            <a:off x="3884749" y="2868216"/>
            <a:ext cx="21431" cy="21431"/>
          </a:xfrm>
          <a:prstGeom prst="ellipse">
            <a:avLst/>
          </a:prstGeom>
          <a:solidFill>
            <a:srgbClr val="0F766E"/>
          </a:solidFill>
          <a:ln/>
        </p:spPr>
      </p:sp>
      <p:sp>
        <p:nvSpPr>
          <p:cNvPr id="102" name="Text 89"/>
          <p:cNvSpPr/>
          <p:nvPr/>
        </p:nvSpPr>
        <p:spPr>
          <a:xfrm>
            <a:off x="3884749" y="2832497"/>
            <a:ext cx="4723442" cy="92869"/>
          </a:xfrm>
          <a:prstGeom prst="rect">
            <a:avLst/>
          </a:prstGeom>
          <a:noFill/>
          <a:ln/>
        </p:spPr>
        <p:txBody>
          <a:bodyPr wrap="none" lIns="85090" tIns="0" rIns="0" bIns="0" rtlCol="0" anchor="t">
            <a:spAutoFit/>
          </a:bodyPr>
          <a:lstStyle/>
          <a:p>
            <a:pPr marL="0" indent="0" algn="l">
              <a:lnSpc>
                <a:spcPct val="104000"/>
              </a:lnSpc>
              <a:buNone/>
            </a:pPr>
            <a:r>
              <a:rPr lang="en-US" sz="500" dirty="0">
                <a:solidFill>
                  <a:srgbClr val="001B3A"/>
                </a:solidFill>
                <a:latin typeface="Montserrat Medium" pitchFamily="34" charset="0"/>
                <a:ea typeface="Montserrat Medium" pitchFamily="34" charset="-122"/>
                <a:cs typeface="Montserrat Medium" pitchFamily="34" charset="-120"/>
              </a:rPr>
              <a:t>Direct Online Sales via Website &amp; Social Media</a:t>
            </a:r>
            <a:endParaRPr lang="en-US" sz="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428625" y="492919"/>
            <a:ext cx="427062" cy="428625"/>
          </a:xfrm>
          <a:prstGeom prst="ellipse">
            <a:avLst/>
          </a:prstGeom>
          <a:solidFill>
            <a:srgbClr val="0F766E">
              <a:alpha val="15000"/>
            </a:srgbClr>
          </a:solidFill>
          <a:ln/>
        </p:spPr>
      </p:sp>
      <p:pic>
        <p:nvPicPr>
          <p:cNvPr id="4" name="Image 1" descr="preencoded.png"/>
          <p:cNvPicPr>
            <a:picLocks noChangeAspect="1"/>
          </p:cNvPicPr>
          <p:nvPr/>
        </p:nvPicPr>
        <p:blipFill>
          <a:blip r:embed="rId4"/>
          <a:stretch>
            <a:fillRect/>
          </a:stretch>
        </p:blipFill>
        <p:spPr>
          <a:xfrm>
            <a:off x="567147" y="607219"/>
            <a:ext cx="150019" cy="200025"/>
          </a:xfrm>
          <a:prstGeom prst="rect">
            <a:avLst/>
          </a:prstGeom>
        </p:spPr>
      </p:pic>
      <p:sp>
        <p:nvSpPr>
          <p:cNvPr id="5" name="Text 1"/>
          <p:cNvSpPr/>
          <p:nvPr/>
        </p:nvSpPr>
        <p:spPr>
          <a:xfrm>
            <a:off x="998562" y="428625"/>
            <a:ext cx="4002063" cy="557213"/>
          </a:xfrm>
          <a:prstGeom prst="rect">
            <a:avLst/>
          </a:prstGeom>
          <a:noFill/>
          <a:ln/>
        </p:spPr>
        <p:txBody>
          <a:bodyPr wrap="square" lIns="0" tIns="0" rIns="0" bIns="0" rtlCol="0" anchor="t">
            <a:spAutoFit/>
          </a:bodyPr>
          <a:lstStyle/>
          <a:p>
            <a:pPr marL="0" indent="0" algn="l">
              <a:buNone/>
            </a:pPr>
            <a:r>
              <a:rPr lang="en-US" sz="1600" b="1" dirty="0">
                <a:solidFill>
                  <a:srgbClr val="001B3A"/>
                </a:solidFill>
                <a:latin typeface="Montserrat Black" pitchFamily="34" charset="0"/>
                <a:ea typeface="Montserrat Black" pitchFamily="34" charset="-122"/>
                <a:cs typeface="Montserrat Black" pitchFamily="34" charset="-120"/>
              </a:rPr>
              <a:t>STRATEGIC RECOMMENDATIONS</a:t>
            </a:r>
            <a:endParaRPr lang="en-US" sz="1600" dirty="0"/>
          </a:p>
        </p:txBody>
      </p:sp>
      <p:sp>
        <p:nvSpPr>
          <p:cNvPr id="6" name="Shape 2"/>
          <p:cNvSpPr/>
          <p:nvPr/>
        </p:nvSpPr>
        <p:spPr>
          <a:xfrm>
            <a:off x="428625" y="1200150"/>
            <a:ext cx="2232422" cy="1056494"/>
          </a:xfrm>
          <a:prstGeom prst="rect">
            <a:avLst/>
          </a:prstGeom>
          <a:solidFill>
            <a:srgbClr val="FFFFFF"/>
          </a:solidFill>
          <a:ln/>
        </p:spPr>
      </p:sp>
      <p:sp>
        <p:nvSpPr>
          <p:cNvPr id="7" name="Shape 3"/>
          <p:cNvSpPr/>
          <p:nvPr/>
        </p:nvSpPr>
        <p:spPr>
          <a:xfrm>
            <a:off x="571500" y="1343025"/>
            <a:ext cx="285750" cy="285750"/>
          </a:xfrm>
          <a:prstGeom prst="ellipse">
            <a:avLst/>
          </a:prstGeom>
          <a:solidFill>
            <a:srgbClr val="0F766E">
              <a:alpha val="15000"/>
            </a:srgbClr>
          </a:solidFill>
          <a:ln/>
        </p:spPr>
      </p:sp>
      <p:pic>
        <p:nvPicPr>
          <p:cNvPr id="8" name="Image 2" descr="preencoded.png"/>
          <p:cNvPicPr>
            <a:picLocks noChangeAspect="1"/>
          </p:cNvPicPr>
          <p:nvPr/>
        </p:nvPicPr>
        <p:blipFill>
          <a:blip r:embed="rId5"/>
          <a:stretch>
            <a:fillRect/>
          </a:stretch>
        </p:blipFill>
        <p:spPr>
          <a:xfrm>
            <a:off x="650081" y="1428750"/>
            <a:ext cx="128588" cy="114300"/>
          </a:xfrm>
          <a:prstGeom prst="rect">
            <a:avLst/>
          </a:prstGeom>
        </p:spPr>
      </p:pic>
      <p:sp>
        <p:nvSpPr>
          <p:cNvPr id="9" name="Text 4"/>
          <p:cNvSpPr/>
          <p:nvPr/>
        </p:nvSpPr>
        <p:spPr>
          <a:xfrm>
            <a:off x="571500" y="1714500"/>
            <a:ext cx="1946672" cy="139303"/>
          </a:xfrm>
          <a:prstGeom prst="rect">
            <a:avLst/>
          </a:prstGeom>
          <a:noFill/>
          <a:ln/>
        </p:spPr>
        <p:txBody>
          <a:bodyPr wrap="square" lIns="0" tIns="0" rIns="0" bIns="0" rtlCol="0" anchor="t">
            <a:spAutoFit/>
          </a:bodyPr>
          <a:lstStyle/>
          <a:p>
            <a:pPr marL="0" indent="0" algn="l">
              <a:buNone/>
            </a:pPr>
            <a:r>
              <a:rPr lang="en-US" sz="800" b="1" dirty="0">
                <a:solidFill>
                  <a:srgbClr val="0F766E"/>
                </a:solidFill>
                <a:latin typeface="Montserrat Black" pitchFamily="34" charset="0"/>
                <a:ea typeface="Montserrat Black" pitchFamily="34" charset="-122"/>
                <a:cs typeface="Montserrat Black" pitchFamily="34" charset="-120"/>
              </a:rPr>
              <a:t>WEBSITE ENHANCEMENTS</a:t>
            </a:r>
            <a:endParaRPr lang="en-US" sz="800" dirty="0"/>
          </a:p>
        </p:txBody>
      </p:sp>
      <p:sp>
        <p:nvSpPr>
          <p:cNvPr id="10" name="Text 5"/>
          <p:cNvSpPr/>
          <p:nvPr/>
        </p:nvSpPr>
        <p:spPr>
          <a:xfrm>
            <a:off x="571500" y="1896666"/>
            <a:ext cx="1946672" cy="359978"/>
          </a:xfrm>
          <a:prstGeom prst="rect">
            <a:avLst/>
          </a:prstGeom>
          <a:noFill/>
          <a:ln/>
        </p:spPr>
        <p:txBody>
          <a:bodyPr wrap="square" lIns="0" tIns="0" rIns="0" bIns="0" rtlCol="0" anchor="t">
            <a:spAutoFit/>
          </a:bodyPr>
          <a:lstStyle/>
          <a:p>
            <a:pPr marL="0" indent="0" algn="l">
              <a:lnSpc>
                <a:spcPct val="112000"/>
              </a:lnSpc>
              <a:buNone/>
            </a:pPr>
            <a:r>
              <a:rPr lang="en-US" sz="600" dirty="0">
                <a:solidFill>
                  <a:srgbClr val="001B3A"/>
                </a:solidFill>
                <a:latin typeface="Montserrat Medium" pitchFamily="34" charset="0"/>
                <a:ea typeface="Montserrat Medium" pitchFamily="34" charset="-122"/>
                <a:cs typeface="Montserrat Medium" pitchFamily="34" charset="-120"/>
              </a:rPr>
              <a:t>Add AR/EN language options, product reviews, and branch addresses with working hours.</a:t>
            </a:r>
            <a:endParaRPr lang="en-US" sz="600" dirty="0"/>
          </a:p>
        </p:txBody>
      </p:sp>
      <p:sp>
        <p:nvSpPr>
          <p:cNvPr id="11" name="Shape 6"/>
          <p:cNvSpPr/>
          <p:nvPr/>
        </p:nvSpPr>
        <p:spPr>
          <a:xfrm>
            <a:off x="2768203" y="1200150"/>
            <a:ext cx="2232422" cy="1056494"/>
          </a:xfrm>
          <a:prstGeom prst="rect">
            <a:avLst/>
          </a:prstGeom>
          <a:solidFill>
            <a:srgbClr val="FFFFFF"/>
          </a:solidFill>
          <a:ln/>
        </p:spPr>
      </p:sp>
      <p:sp>
        <p:nvSpPr>
          <p:cNvPr id="12" name="Shape 7"/>
          <p:cNvSpPr/>
          <p:nvPr/>
        </p:nvSpPr>
        <p:spPr>
          <a:xfrm>
            <a:off x="2911078" y="1343025"/>
            <a:ext cx="285750" cy="285750"/>
          </a:xfrm>
          <a:prstGeom prst="ellipse">
            <a:avLst/>
          </a:prstGeom>
          <a:solidFill>
            <a:srgbClr val="0F766E">
              <a:alpha val="15000"/>
            </a:srgbClr>
          </a:solidFill>
          <a:ln/>
        </p:spPr>
      </p:sp>
      <p:pic>
        <p:nvPicPr>
          <p:cNvPr id="13" name="Image 3" descr="preencoded.png"/>
          <p:cNvPicPr>
            <a:picLocks noChangeAspect="1"/>
          </p:cNvPicPr>
          <p:nvPr/>
        </p:nvPicPr>
        <p:blipFill>
          <a:blip r:embed="rId6"/>
          <a:stretch>
            <a:fillRect/>
          </a:stretch>
        </p:blipFill>
        <p:spPr>
          <a:xfrm>
            <a:off x="3011091" y="1428750"/>
            <a:ext cx="85725" cy="114300"/>
          </a:xfrm>
          <a:prstGeom prst="rect">
            <a:avLst/>
          </a:prstGeom>
        </p:spPr>
      </p:pic>
      <p:sp>
        <p:nvSpPr>
          <p:cNvPr id="14" name="Text 8"/>
          <p:cNvSpPr/>
          <p:nvPr/>
        </p:nvSpPr>
        <p:spPr>
          <a:xfrm>
            <a:off x="2911078" y="1714500"/>
            <a:ext cx="1946672" cy="139303"/>
          </a:xfrm>
          <a:prstGeom prst="rect">
            <a:avLst/>
          </a:prstGeom>
          <a:noFill/>
          <a:ln/>
        </p:spPr>
        <p:txBody>
          <a:bodyPr wrap="square" lIns="0" tIns="0" rIns="0" bIns="0" rtlCol="0" anchor="t">
            <a:spAutoFit/>
          </a:bodyPr>
          <a:lstStyle/>
          <a:p>
            <a:pPr marL="0" indent="0" algn="l">
              <a:buNone/>
            </a:pPr>
            <a:r>
              <a:rPr lang="en-US" sz="800" b="1" dirty="0">
                <a:solidFill>
                  <a:srgbClr val="0F766E"/>
                </a:solidFill>
                <a:latin typeface="Montserrat Black" pitchFamily="34" charset="0"/>
                <a:ea typeface="Montserrat Black" pitchFamily="34" charset="-122"/>
                <a:cs typeface="Montserrat Black" pitchFamily="34" charset="-120"/>
              </a:rPr>
              <a:t>POLICY CLARITY</a:t>
            </a:r>
            <a:endParaRPr lang="en-US" sz="800" dirty="0"/>
          </a:p>
        </p:txBody>
      </p:sp>
      <p:sp>
        <p:nvSpPr>
          <p:cNvPr id="15" name="Text 9"/>
          <p:cNvSpPr/>
          <p:nvPr/>
        </p:nvSpPr>
        <p:spPr>
          <a:xfrm>
            <a:off x="2911078" y="1896666"/>
            <a:ext cx="1946672" cy="239985"/>
          </a:xfrm>
          <a:prstGeom prst="rect">
            <a:avLst/>
          </a:prstGeom>
          <a:noFill/>
          <a:ln/>
        </p:spPr>
        <p:txBody>
          <a:bodyPr wrap="square" lIns="0" tIns="0" rIns="0" bIns="0" rtlCol="0" anchor="t">
            <a:spAutoFit/>
          </a:bodyPr>
          <a:lstStyle/>
          <a:p>
            <a:pPr marL="0" indent="0" algn="l">
              <a:lnSpc>
                <a:spcPct val="112000"/>
              </a:lnSpc>
              <a:buNone/>
            </a:pPr>
            <a:r>
              <a:rPr lang="en-US" sz="600" dirty="0">
                <a:solidFill>
                  <a:srgbClr val="001B3A"/>
                </a:solidFill>
                <a:latin typeface="Montserrat Medium" pitchFamily="34" charset="0"/>
                <a:ea typeface="Montserrat Medium" pitchFamily="34" charset="-122"/>
                <a:cs typeface="Montserrat Medium" pitchFamily="34" charset="-120"/>
              </a:rPr>
              <a:t>Clearly define exchange, return, and warranty policies to build customer trust.</a:t>
            </a:r>
            <a:endParaRPr lang="en-US" sz="600" dirty="0"/>
          </a:p>
        </p:txBody>
      </p:sp>
      <p:sp>
        <p:nvSpPr>
          <p:cNvPr id="16" name="Shape 10"/>
          <p:cNvSpPr/>
          <p:nvPr/>
        </p:nvSpPr>
        <p:spPr>
          <a:xfrm>
            <a:off x="428625" y="2363800"/>
            <a:ext cx="2232422" cy="1056494"/>
          </a:xfrm>
          <a:prstGeom prst="rect">
            <a:avLst/>
          </a:prstGeom>
          <a:solidFill>
            <a:srgbClr val="FFFFFF"/>
          </a:solidFill>
          <a:ln/>
        </p:spPr>
      </p:sp>
      <p:sp>
        <p:nvSpPr>
          <p:cNvPr id="17" name="Shape 11"/>
          <p:cNvSpPr/>
          <p:nvPr/>
        </p:nvSpPr>
        <p:spPr>
          <a:xfrm>
            <a:off x="571500" y="2506675"/>
            <a:ext cx="285750" cy="285750"/>
          </a:xfrm>
          <a:prstGeom prst="ellipse">
            <a:avLst/>
          </a:prstGeom>
          <a:solidFill>
            <a:srgbClr val="0F766E">
              <a:alpha val="15000"/>
            </a:srgbClr>
          </a:solidFill>
          <a:ln/>
        </p:spPr>
      </p:sp>
      <p:pic>
        <p:nvPicPr>
          <p:cNvPr id="18" name="Image 4" descr="preencoded.png"/>
          <p:cNvPicPr>
            <a:picLocks noChangeAspect="1"/>
          </p:cNvPicPr>
          <p:nvPr/>
        </p:nvPicPr>
        <p:blipFill>
          <a:blip r:embed="rId7"/>
          <a:stretch>
            <a:fillRect/>
          </a:stretch>
        </p:blipFill>
        <p:spPr>
          <a:xfrm>
            <a:off x="657225" y="2592400"/>
            <a:ext cx="114300" cy="114300"/>
          </a:xfrm>
          <a:prstGeom prst="rect">
            <a:avLst/>
          </a:prstGeom>
        </p:spPr>
      </p:pic>
      <p:sp>
        <p:nvSpPr>
          <p:cNvPr id="19" name="Text 12"/>
          <p:cNvSpPr/>
          <p:nvPr/>
        </p:nvSpPr>
        <p:spPr>
          <a:xfrm>
            <a:off x="571500" y="2878150"/>
            <a:ext cx="1946672" cy="139303"/>
          </a:xfrm>
          <a:prstGeom prst="rect">
            <a:avLst/>
          </a:prstGeom>
          <a:noFill/>
          <a:ln/>
        </p:spPr>
        <p:txBody>
          <a:bodyPr wrap="square" lIns="0" tIns="0" rIns="0" bIns="0" rtlCol="0" anchor="t">
            <a:spAutoFit/>
          </a:bodyPr>
          <a:lstStyle/>
          <a:p>
            <a:pPr marL="0" indent="0" algn="l">
              <a:buNone/>
            </a:pPr>
            <a:r>
              <a:rPr lang="en-US" sz="800" b="1" dirty="0">
                <a:solidFill>
                  <a:srgbClr val="0F766E"/>
                </a:solidFill>
                <a:latin typeface="Montserrat Black" pitchFamily="34" charset="0"/>
                <a:ea typeface="Montserrat Black" pitchFamily="34" charset="-122"/>
                <a:cs typeface="Montserrat Black" pitchFamily="34" charset="-120"/>
              </a:rPr>
              <a:t>CONTENT STRATEGY</a:t>
            </a:r>
            <a:endParaRPr lang="en-US" sz="800" dirty="0"/>
          </a:p>
        </p:txBody>
      </p:sp>
      <p:sp>
        <p:nvSpPr>
          <p:cNvPr id="20" name="Text 13"/>
          <p:cNvSpPr/>
          <p:nvPr/>
        </p:nvSpPr>
        <p:spPr>
          <a:xfrm>
            <a:off x="571500" y="3060316"/>
            <a:ext cx="1946672" cy="359978"/>
          </a:xfrm>
          <a:prstGeom prst="rect">
            <a:avLst/>
          </a:prstGeom>
          <a:noFill/>
          <a:ln/>
        </p:spPr>
        <p:txBody>
          <a:bodyPr wrap="square" lIns="0" tIns="0" rIns="0" bIns="0" rtlCol="0" anchor="t">
            <a:spAutoFit/>
          </a:bodyPr>
          <a:lstStyle/>
          <a:p>
            <a:pPr marL="0" indent="0" algn="l">
              <a:lnSpc>
                <a:spcPct val="112000"/>
              </a:lnSpc>
              <a:buNone/>
            </a:pPr>
            <a:r>
              <a:rPr lang="en-US" sz="600" dirty="0">
                <a:solidFill>
                  <a:srgbClr val="001B3A"/>
                </a:solidFill>
                <a:latin typeface="Montserrat Medium" pitchFamily="34" charset="0"/>
                <a:ea typeface="Montserrat Medium" pitchFamily="34" charset="-122"/>
                <a:cs typeface="Montserrat Medium" pitchFamily="34" charset="-120"/>
              </a:rPr>
              <a:t>Increase post frequency and create educational content on choosing the right cookware.</a:t>
            </a:r>
            <a:endParaRPr lang="en-US" sz="600" dirty="0"/>
          </a:p>
        </p:txBody>
      </p:sp>
      <p:sp>
        <p:nvSpPr>
          <p:cNvPr id="21" name="Shape 14"/>
          <p:cNvSpPr/>
          <p:nvPr/>
        </p:nvSpPr>
        <p:spPr>
          <a:xfrm>
            <a:off x="2768203" y="2363800"/>
            <a:ext cx="2232422" cy="1056494"/>
          </a:xfrm>
          <a:prstGeom prst="rect">
            <a:avLst/>
          </a:prstGeom>
          <a:solidFill>
            <a:srgbClr val="FFFFFF"/>
          </a:solidFill>
          <a:ln/>
        </p:spPr>
      </p:sp>
      <p:sp>
        <p:nvSpPr>
          <p:cNvPr id="22" name="Shape 15"/>
          <p:cNvSpPr/>
          <p:nvPr/>
        </p:nvSpPr>
        <p:spPr>
          <a:xfrm>
            <a:off x="2911078" y="2506675"/>
            <a:ext cx="285750" cy="285750"/>
          </a:xfrm>
          <a:prstGeom prst="ellipse">
            <a:avLst/>
          </a:prstGeom>
          <a:solidFill>
            <a:srgbClr val="0F766E">
              <a:alpha val="15000"/>
            </a:srgbClr>
          </a:solidFill>
          <a:ln/>
        </p:spPr>
      </p:sp>
      <p:pic>
        <p:nvPicPr>
          <p:cNvPr id="23" name="Image 5" descr="preencoded.png"/>
          <p:cNvPicPr>
            <a:picLocks noChangeAspect="1"/>
          </p:cNvPicPr>
          <p:nvPr/>
        </p:nvPicPr>
        <p:blipFill>
          <a:blip r:embed="rId8"/>
          <a:stretch>
            <a:fillRect/>
          </a:stretch>
        </p:blipFill>
        <p:spPr>
          <a:xfrm>
            <a:off x="2982516" y="2592400"/>
            <a:ext cx="142875" cy="114300"/>
          </a:xfrm>
          <a:prstGeom prst="rect">
            <a:avLst/>
          </a:prstGeom>
        </p:spPr>
      </p:pic>
      <p:sp>
        <p:nvSpPr>
          <p:cNvPr id="24" name="Text 16"/>
          <p:cNvSpPr/>
          <p:nvPr/>
        </p:nvSpPr>
        <p:spPr>
          <a:xfrm>
            <a:off x="2911078" y="2878150"/>
            <a:ext cx="1946672" cy="139303"/>
          </a:xfrm>
          <a:prstGeom prst="rect">
            <a:avLst/>
          </a:prstGeom>
          <a:noFill/>
          <a:ln/>
        </p:spPr>
        <p:txBody>
          <a:bodyPr wrap="square" lIns="0" tIns="0" rIns="0" bIns="0" rtlCol="0" anchor="t">
            <a:spAutoFit/>
          </a:bodyPr>
          <a:lstStyle/>
          <a:p>
            <a:pPr marL="0" indent="0" algn="l">
              <a:buNone/>
            </a:pPr>
            <a:r>
              <a:rPr lang="en-US" sz="800" b="1" dirty="0">
                <a:solidFill>
                  <a:srgbClr val="0F766E"/>
                </a:solidFill>
                <a:latin typeface="Montserrat Black" pitchFamily="34" charset="0"/>
                <a:ea typeface="Montserrat Black" pitchFamily="34" charset="-122"/>
                <a:cs typeface="Montserrat Black" pitchFamily="34" charset="-120"/>
              </a:rPr>
              <a:t>CUSTOMER ENGAGEMENT</a:t>
            </a:r>
            <a:endParaRPr lang="en-US" sz="800" dirty="0"/>
          </a:p>
        </p:txBody>
      </p:sp>
      <p:sp>
        <p:nvSpPr>
          <p:cNvPr id="25" name="Text 17"/>
          <p:cNvSpPr/>
          <p:nvPr/>
        </p:nvSpPr>
        <p:spPr>
          <a:xfrm>
            <a:off x="2911078" y="3060316"/>
            <a:ext cx="1946672" cy="359978"/>
          </a:xfrm>
          <a:prstGeom prst="rect">
            <a:avLst/>
          </a:prstGeom>
          <a:noFill/>
          <a:ln/>
        </p:spPr>
        <p:txBody>
          <a:bodyPr wrap="square" lIns="0" tIns="0" rIns="0" bIns="0" rtlCol="0" anchor="t">
            <a:spAutoFit/>
          </a:bodyPr>
          <a:lstStyle/>
          <a:p>
            <a:pPr marL="0" indent="0" algn="l">
              <a:lnSpc>
                <a:spcPct val="112000"/>
              </a:lnSpc>
              <a:buNone/>
            </a:pPr>
            <a:r>
              <a:rPr lang="en-US" sz="600" dirty="0">
                <a:solidFill>
                  <a:srgbClr val="001B3A"/>
                </a:solidFill>
                <a:latin typeface="Montserrat Medium" pitchFamily="34" charset="0"/>
                <a:ea typeface="Montserrat Medium" pitchFamily="34" charset="-122"/>
                <a:cs typeface="Montserrat Medium" pitchFamily="34" charset="-120"/>
              </a:rPr>
              <a:t>Organize Instagram Highlights and encourage post-purchase reviews for social proof.</a:t>
            </a:r>
            <a:endParaRPr lang="en-US" sz="600" dirty="0"/>
          </a:p>
        </p:txBody>
      </p:sp>
      <p:sp>
        <p:nvSpPr>
          <p:cNvPr id="26" name="Shape 18"/>
          <p:cNvSpPr/>
          <p:nvPr/>
        </p:nvSpPr>
        <p:spPr>
          <a:xfrm>
            <a:off x="428625" y="3527450"/>
            <a:ext cx="4572000" cy="936501"/>
          </a:xfrm>
          <a:prstGeom prst="rect">
            <a:avLst/>
          </a:prstGeom>
          <a:solidFill>
            <a:srgbClr val="FFFFFF"/>
          </a:solidFill>
          <a:ln/>
        </p:spPr>
      </p:sp>
      <p:sp>
        <p:nvSpPr>
          <p:cNvPr id="27" name="Shape 19"/>
          <p:cNvSpPr/>
          <p:nvPr/>
        </p:nvSpPr>
        <p:spPr>
          <a:xfrm>
            <a:off x="571500" y="3670325"/>
            <a:ext cx="285750" cy="285750"/>
          </a:xfrm>
          <a:prstGeom prst="ellipse">
            <a:avLst/>
          </a:prstGeom>
          <a:solidFill>
            <a:srgbClr val="0F766E">
              <a:alpha val="15000"/>
            </a:srgbClr>
          </a:solidFill>
          <a:ln/>
        </p:spPr>
      </p:sp>
      <p:pic>
        <p:nvPicPr>
          <p:cNvPr id="28" name="Image 6" descr="preencoded.png"/>
          <p:cNvPicPr>
            <a:picLocks noChangeAspect="1"/>
          </p:cNvPicPr>
          <p:nvPr/>
        </p:nvPicPr>
        <p:blipFill>
          <a:blip r:embed="rId9"/>
          <a:stretch>
            <a:fillRect/>
          </a:stretch>
        </p:blipFill>
        <p:spPr>
          <a:xfrm>
            <a:off x="671513" y="3756050"/>
            <a:ext cx="85725" cy="114300"/>
          </a:xfrm>
          <a:prstGeom prst="rect">
            <a:avLst/>
          </a:prstGeom>
        </p:spPr>
      </p:pic>
      <p:sp>
        <p:nvSpPr>
          <p:cNvPr id="29" name="Text 20"/>
          <p:cNvSpPr/>
          <p:nvPr/>
        </p:nvSpPr>
        <p:spPr>
          <a:xfrm>
            <a:off x="571500" y="4041800"/>
            <a:ext cx="4286250" cy="139303"/>
          </a:xfrm>
          <a:prstGeom prst="rect">
            <a:avLst/>
          </a:prstGeom>
          <a:noFill/>
          <a:ln/>
        </p:spPr>
        <p:txBody>
          <a:bodyPr wrap="square" lIns="0" tIns="0" rIns="0" bIns="0" rtlCol="0" anchor="t">
            <a:spAutoFit/>
          </a:bodyPr>
          <a:lstStyle/>
          <a:p>
            <a:pPr marL="0" indent="0" algn="l">
              <a:buNone/>
            </a:pPr>
            <a:r>
              <a:rPr lang="en-US" sz="800" b="1" dirty="0">
                <a:solidFill>
                  <a:srgbClr val="0F766E"/>
                </a:solidFill>
                <a:latin typeface="Montserrat Black" pitchFamily="34" charset="0"/>
                <a:ea typeface="Montserrat Black" pitchFamily="34" charset="-122"/>
                <a:cs typeface="Montserrat Black" pitchFamily="34" charset="-120"/>
              </a:rPr>
              <a:t>LOYALTY REWARDS</a:t>
            </a:r>
            <a:endParaRPr lang="en-US" sz="800" dirty="0"/>
          </a:p>
        </p:txBody>
      </p:sp>
      <p:sp>
        <p:nvSpPr>
          <p:cNvPr id="30" name="Text 21"/>
          <p:cNvSpPr/>
          <p:nvPr/>
        </p:nvSpPr>
        <p:spPr>
          <a:xfrm>
            <a:off x="571500" y="4223965"/>
            <a:ext cx="4286250" cy="239985"/>
          </a:xfrm>
          <a:prstGeom prst="rect">
            <a:avLst/>
          </a:prstGeom>
          <a:noFill/>
          <a:ln/>
        </p:spPr>
        <p:txBody>
          <a:bodyPr wrap="square" lIns="0" tIns="0" rIns="0" bIns="0" rtlCol="0" anchor="t">
            <a:spAutoFit/>
          </a:bodyPr>
          <a:lstStyle/>
          <a:p>
            <a:pPr marL="0" indent="0" algn="l">
              <a:lnSpc>
                <a:spcPct val="112000"/>
              </a:lnSpc>
              <a:buNone/>
            </a:pPr>
            <a:r>
              <a:rPr lang="en-US" sz="600" dirty="0">
                <a:solidFill>
                  <a:srgbClr val="001B3A"/>
                </a:solidFill>
                <a:latin typeface="Montserrat Medium" pitchFamily="34" charset="0"/>
                <a:ea typeface="Montserrat Medium" pitchFamily="34" charset="-122"/>
                <a:cs typeface="Montserrat Medium" pitchFamily="34" charset="-120"/>
              </a:rPr>
              <a:t>Feature outstanding customers and offer exclusive rewards to build long-term brand loyalty and community.</a:t>
            </a:r>
            <a:endParaRPr lang="en-US" sz="600" dirty="0"/>
          </a:p>
        </p:txBody>
      </p:sp>
      <p:pic>
        <p:nvPicPr>
          <p:cNvPr id="31" name="Image 7" descr="preencoded.png"/>
          <p:cNvPicPr>
            <a:picLocks noChangeAspect="1"/>
          </p:cNvPicPr>
          <p:nvPr/>
        </p:nvPicPr>
        <p:blipFill>
          <a:blip r:embed="rId10"/>
          <a:stretch>
            <a:fillRect/>
          </a:stretch>
        </p:blipFill>
        <p:spPr>
          <a:xfrm>
            <a:off x="5286375" y="428625"/>
            <a:ext cx="3571875" cy="42862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428625" y="428625"/>
            <a:ext cx="4286250" cy="4286250"/>
          </a:xfrm>
          <a:prstGeom prst="rect">
            <a:avLst/>
          </a:prstGeom>
        </p:spPr>
      </p:pic>
      <p:sp>
        <p:nvSpPr>
          <p:cNvPr id="4" name="Shape 0"/>
          <p:cNvSpPr/>
          <p:nvPr/>
        </p:nvSpPr>
        <p:spPr>
          <a:xfrm>
            <a:off x="5286375" y="899945"/>
            <a:ext cx="571500" cy="571500"/>
          </a:xfrm>
          <a:prstGeom prst="ellipse">
            <a:avLst/>
          </a:prstGeom>
          <a:solidFill>
            <a:srgbClr val="0F766E">
              <a:alpha val="15000"/>
            </a:srgbClr>
          </a:solidFill>
          <a:ln/>
        </p:spPr>
      </p:sp>
      <p:pic>
        <p:nvPicPr>
          <p:cNvPr id="5" name="Image 2" descr="preencoded.png"/>
          <p:cNvPicPr>
            <a:picLocks noChangeAspect="1"/>
          </p:cNvPicPr>
          <p:nvPr/>
        </p:nvPicPr>
        <p:blipFill>
          <a:blip r:embed="rId5"/>
          <a:stretch>
            <a:fillRect/>
          </a:stretch>
        </p:blipFill>
        <p:spPr>
          <a:xfrm>
            <a:off x="5411391" y="1057108"/>
            <a:ext cx="321469" cy="257175"/>
          </a:xfrm>
          <a:prstGeom prst="rect">
            <a:avLst/>
          </a:prstGeom>
        </p:spPr>
      </p:pic>
      <p:sp>
        <p:nvSpPr>
          <p:cNvPr id="6" name="Text 1"/>
          <p:cNvSpPr/>
          <p:nvPr/>
        </p:nvSpPr>
        <p:spPr>
          <a:xfrm>
            <a:off x="5286375" y="1757195"/>
            <a:ext cx="3429000" cy="1234390"/>
          </a:xfrm>
          <a:prstGeom prst="rect">
            <a:avLst/>
          </a:prstGeom>
          <a:noFill/>
          <a:ln/>
        </p:spPr>
        <p:txBody>
          <a:bodyPr wrap="square" lIns="0" tIns="0" rIns="0" bIns="0" rtlCol="0" anchor="t">
            <a:spAutoFit/>
          </a:bodyPr>
          <a:lstStyle/>
          <a:p>
            <a:pPr marL="0" indent="0" algn="l">
              <a:lnSpc>
                <a:spcPct val="96000"/>
              </a:lnSpc>
              <a:buNone/>
            </a:pPr>
            <a:r>
              <a:rPr lang="en-US" sz="2450" b="1" dirty="0">
                <a:solidFill>
                  <a:srgbClr val="001B3A"/>
                </a:solidFill>
                <a:latin typeface="Montserrat Black" pitchFamily="34" charset="0"/>
                <a:ea typeface="Montserrat Black" pitchFamily="34" charset="-122"/>
                <a:cs typeface="Montserrat Black" pitchFamily="34" charset="-120"/>
              </a:rPr>
              <a:t>THANK YOU
FOR YOUR ATTENTION</a:t>
            </a:r>
            <a:endParaRPr lang="en-US" sz="2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TotalTime>
  <Words>1131</Words>
  <Application>Microsoft Office PowerPoint</Application>
  <PresentationFormat>On-screen Show (16:9)</PresentationFormat>
  <Paragraphs>213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Montserrat Black</vt:lpstr>
      <vt:lpstr>Montserrat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MQ-5</cp:lastModifiedBy>
  <cp:revision>2</cp:revision>
  <dcterms:created xsi:type="dcterms:W3CDTF">2026-07-01T21:29:13Z</dcterms:created>
  <dcterms:modified xsi:type="dcterms:W3CDTF">2026-07-02T01:48:04Z</dcterms:modified>
</cp:coreProperties>
</file>